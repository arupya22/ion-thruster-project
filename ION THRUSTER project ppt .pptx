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300" r:id="rId20"/>
    <p:sldId id="301" r:id="rId21"/>
    <p:sldId id="299" r:id="rId22"/>
    <p:sldId id="275" r:id="rId23"/>
    <p:sldId id="276" r:id="rId24"/>
    <p:sldId id="277" r:id="rId25"/>
    <p:sldId id="278" r:id="rId26"/>
    <p:sldId id="298" r:id="rId27"/>
    <p:sldId id="279" r:id="rId28"/>
    <p:sldId id="282" r:id="rId29"/>
    <p:sldId id="283" r:id="rId30"/>
    <p:sldId id="269" r:id="rId31"/>
    <p:sldId id="284" r:id="rId32"/>
    <p:sldId id="303" r:id="rId33"/>
    <p:sldId id="302" r:id="rId34"/>
    <p:sldId id="285" r:id="rId35"/>
    <p:sldId id="287" r:id="rId36"/>
    <p:sldId id="288" r:id="rId37"/>
  </p:sldIdLst>
  <p:sldSz cx="18288000" cy="10287000"/>
  <p:notesSz cx="6858000" cy="9144000"/>
  <p:embeddedFontLst>
    <p:embeddedFont>
      <p:font typeface="Arimo" panose="020B0604020202020204" pitchFamily="34" charset="0"/>
      <p:regular r:id="rId39"/>
    </p:embeddedFont>
    <p:embeddedFont>
      <p:font typeface="Arimo Bold" panose="020B0704020202020204" pitchFamily="34" charset="0"/>
      <p:regular r:id="rId40"/>
    </p:embeddedFont>
    <p:embeddedFont>
      <p:font typeface="Canva Sans" panose="020B0503030501040103" pitchFamily="34" charset="0"/>
      <p:regular r:id="rId41"/>
    </p:embeddedFont>
    <p:embeddedFont>
      <p:font typeface="Canva Sans Bold" panose="020B0803030501040103" pitchFamily="34" charset="0"/>
      <p:regular r:id="rId42"/>
    </p:embeddedFont>
    <p:embeddedFont>
      <p:font typeface="Lilita One" panose="02000000000000000000" pitchFamily="2" charset="0"/>
      <p:regular r:id="rId43"/>
    </p:embeddedFont>
    <p:embeddedFont>
      <p:font typeface="The Seasons" pitchFamily="2" charset="0"/>
      <p:regular r:id="rId44"/>
    </p:embeddedFont>
    <p:embeddedFont>
      <p:font typeface="The Seasons Bold" pitchFamily="2" charset="0"/>
      <p:regular r:id="rId45"/>
    </p:embeddedFont>
    <p:embeddedFont>
      <p:font typeface="Times New Roman Bold" panose="02030802070405020303" pitchFamily="18" charset="0"/>
      <p:regular r:id="rId46"/>
      <p:bold r:id="rId47"/>
    </p:embeddedFont>
    <p:embeddedFont>
      <p:font typeface="Wingdings 3" pitchFamily="2" charset="2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font" Target="fonts/font1.fntdata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font" Target="fonts/font4.fntdata" /><Relationship Id="rId47" Type="http://schemas.openxmlformats.org/officeDocument/2006/relationships/font" Target="fonts/font9.fntdata" /><Relationship Id="rId50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notesMaster" Target="notesMasters/notesMaster1.xml" /><Relationship Id="rId46" Type="http://schemas.openxmlformats.org/officeDocument/2006/relationships/font" Target="fonts/font8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font" Target="fonts/font3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font" Target="fonts/font2.fntdata" /><Relationship Id="rId45" Type="http://schemas.openxmlformats.org/officeDocument/2006/relationships/font" Target="fonts/font7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font" Target="fonts/font6.fntdata" /><Relationship Id="rId52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font" Target="fonts/font5.fntdata" /><Relationship Id="rId48" Type="http://schemas.openxmlformats.org/officeDocument/2006/relationships/font" Target="fonts/font10.fntdata" /><Relationship Id="rId8" Type="http://schemas.openxmlformats.org/officeDocument/2006/relationships/slide" Target="slides/slide7.xml" /><Relationship Id="rId5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0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2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59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9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0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58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15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8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6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645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3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3627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10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08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9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48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63" r:id="rId12"/>
    <p:sldLayoutId id="2147484064" r:id="rId13"/>
    <p:sldLayoutId id="2147484065" r:id="rId14"/>
    <p:sldLayoutId id="2147484066" r:id="rId15"/>
    <p:sldLayoutId id="2147484067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068118" y="411844"/>
            <a:ext cx="1012101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u="sng">
                <a:ea typeface="Lilita One"/>
                <a:cs typeface="Times New Roman" panose="02020603050405020304"/>
                <a:sym typeface="Lilita One"/>
              </a:rPr>
              <a:t>PROJECT PRESENTATION</a:t>
            </a:r>
            <a:endParaRPr lang="en-US" sz="6000" b="1" u="sng">
              <a:ea typeface="Lilita One"/>
              <a:cs typeface="Times New Roman" panose="02020603050405020304"/>
            </a:endParaRPr>
          </a:p>
          <a:p>
            <a:pPr algn="ctr"/>
            <a:r>
              <a:rPr lang="en-US" sz="6000" b="1" u="sng">
                <a:ea typeface="Lilita One"/>
                <a:cs typeface="Times New Roman" panose="02020603050405020304"/>
                <a:sym typeface="Lilita One"/>
              </a:rPr>
              <a:t>ION THRUSTER  </a:t>
            </a:r>
            <a:endParaRPr lang="en-US" sz="6000" b="1" u="sng">
              <a:ea typeface="Lilita One"/>
              <a:cs typeface="Times New Roman" panose="020206030504050203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424615" y="5933970"/>
            <a:ext cx="5329286" cy="315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00" b="1">
                <a:ea typeface="Canva Sans"/>
                <a:cs typeface="Canva Sans"/>
                <a:sym typeface="Canva Sans"/>
              </a:rPr>
              <a:t>BY :-</a:t>
            </a:r>
            <a:endParaRPr lang="en-US" sz="3500" b="1">
              <a:ea typeface="Canva Sans"/>
              <a:cs typeface="Canva Sans"/>
            </a:endParaRPr>
          </a:p>
          <a:p>
            <a:pPr algn="ctr">
              <a:lnSpc>
                <a:spcPts val="5039"/>
              </a:lnSpc>
            </a:pPr>
            <a:r>
              <a:rPr lang="en-US" sz="3500" b="1">
                <a:ea typeface="Canva Sans"/>
                <a:cs typeface="Canva Sans"/>
                <a:sym typeface="Canva Sans"/>
              </a:rPr>
              <a:t>Arupya T</a:t>
            </a:r>
            <a:endParaRPr lang="en-US" sz="3500" b="1">
              <a:ea typeface="Canva Sans"/>
              <a:cs typeface="Canva Sans"/>
            </a:endParaRPr>
          </a:p>
          <a:p>
            <a:pPr algn="ctr">
              <a:lnSpc>
                <a:spcPts val="5039"/>
              </a:lnSpc>
            </a:pPr>
            <a:r>
              <a:rPr lang="en-US" sz="3500" b="1">
                <a:cs typeface="Times New Roman"/>
              </a:rPr>
              <a:t>Ashwini Sai KS</a:t>
            </a:r>
            <a:endParaRPr lang="en-US" sz="3500">
              <a:cs typeface="Times New Roman"/>
            </a:endParaRPr>
          </a:p>
          <a:p>
            <a:pPr algn="ctr">
              <a:lnSpc>
                <a:spcPts val="5039"/>
              </a:lnSpc>
            </a:pPr>
            <a:r>
              <a:rPr lang="en-US" sz="3500" b="1">
                <a:ea typeface="Canva Sans"/>
                <a:cs typeface="Canva Sans"/>
                <a:sym typeface="Canva Sans"/>
              </a:rPr>
              <a:t>Athulya A</a:t>
            </a:r>
            <a:endParaRPr lang="en-US" sz="3500" b="1">
              <a:ea typeface="Canva Sans"/>
              <a:cs typeface="Canva Sans"/>
            </a:endParaRPr>
          </a:p>
          <a:p>
            <a:pPr algn="ctr">
              <a:lnSpc>
                <a:spcPts val="5039"/>
              </a:lnSpc>
            </a:pPr>
            <a:r>
              <a:rPr lang="en-US" sz="3500" b="1">
                <a:ea typeface="Canva Sans"/>
                <a:cs typeface="Canva Sans"/>
                <a:sym typeface="Canva Sans"/>
              </a:rPr>
              <a:t>Swanand Kasar</a:t>
            </a:r>
            <a:endParaRPr lang="en-US" sz="3500" b="1">
              <a:ea typeface="Canva Sans"/>
              <a:cs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3056237"/>
            <a:ext cx="16230600" cy="134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0"/>
              </a:lnSpc>
              <a:spcBef>
                <a:spcPct val="0"/>
              </a:spcBef>
            </a:pPr>
            <a:r>
              <a:rPr lang="en-US" sz="3864" b="1" dirty="0">
                <a:ea typeface="Canva Sans Bold"/>
                <a:cs typeface="Canva Sans Bold"/>
                <a:sym typeface="Canva Sans Bold"/>
              </a:rPr>
              <a:t>ION-3D: NEXT-GEN MINI THRUSTER FOR AGILE SATELLITE PROPULSION 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9851FF-2ABA-0296-0C4A-436EB93006F4}"/>
              </a:ext>
            </a:extLst>
          </p:cNvPr>
          <p:cNvSpPr txBox="1"/>
          <p:nvPr/>
        </p:nvSpPr>
        <p:spPr>
          <a:xfrm>
            <a:off x="2013344" y="6141855"/>
            <a:ext cx="5123145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>
                <a:cs typeface="Times New Roman"/>
              </a:rPr>
              <a:t>TEAM MENTOR</a:t>
            </a:r>
          </a:p>
          <a:p>
            <a:r>
              <a:rPr lang="en-US" sz="3500" b="1">
                <a:cs typeface="Times New Roman"/>
              </a:rPr>
              <a:t>Mr. </a:t>
            </a:r>
            <a:r>
              <a:rPr lang="en-US" sz="3500" b="1" err="1">
                <a:cs typeface="Times New Roman"/>
              </a:rPr>
              <a:t>Ezhilarasu</a:t>
            </a:r>
            <a:r>
              <a:rPr lang="en-US" sz="3500" b="1">
                <a:cs typeface="Times New Roman"/>
              </a:rPr>
              <a:t> R</a:t>
            </a:r>
          </a:p>
          <a:p>
            <a:r>
              <a:rPr lang="en-US" sz="3200" b="1">
                <a:solidFill>
                  <a:srgbClr val="090909"/>
                </a:solidFill>
                <a:cs typeface="Times New Roman"/>
              </a:rPr>
              <a:t>Assistant Professor</a:t>
            </a:r>
          </a:p>
          <a:p>
            <a:r>
              <a:rPr lang="en-US" sz="3200" b="1">
                <a:solidFill>
                  <a:srgbClr val="090909"/>
                </a:solidFill>
                <a:cs typeface="Times New Roman"/>
              </a:rPr>
              <a:t>Dept. Of Aero &amp; Aerospace</a:t>
            </a:r>
            <a:endParaRPr lang="en-US" sz="3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E0C50-549D-4FAD-E0B3-35FD252B3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4" y="408142"/>
            <a:ext cx="3178628" cy="13427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39238" y="4274503"/>
            <a:ext cx="9525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6579990" y="255822"/>
            <a:ext cx="4852732" cy="189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u="sng" dirty="0">
                <a:ea typeface="Canva Sans Bold"/>
                <a:cs typeface="Canva Sans Bold"/>
                <a:sym typeface="Canva Sans Bold"/>
              </a:rPr>
              <a:t>ABSTRACT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  <a:endParaRPr lang="en-US" sz="5499" b="1" dirty="0"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98309" y="2371744"/>
            <a:ext cx="14500908" cy="6858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sz="3736" b="1">
                <a:ea typeface="Times New Roman Bold"/>
                <a:cs typeface="Times New Roman Bold"/>
                <a:sym typeface="Times New Roman Bold"/>
              </a:rPr>
              <a:t>Our project develops a compact, cost-effective ion thruster to enhance in-space mobility and orbital adjustments for CubeSats and mini-satellites. By integrating a 3D-printed convergent nozzle, we improve thrust efficiency through focused ion acceleration. Additive manufacturing enables rapid prototyping with high precision and minimal waste. For large-scale use, the nozzle is made from carbon fiber-reinforced PEEK (CF-PEEK), while Nylon 6 is used for low-cost, small-scale prototypes. Supported by advanced simulations, this thruster advances sustainable and responsive space technologies.</a:t>
            </a:r>
          </a:p>
          <a:p>
            <a:pPr algn="ctr">
              <a:lnSpc>
                <a:spcPts val="5230"/>
              </a:lnSpc>
            </a:pPr>
            <a:endParaRPr lang="en-US" sz="3736" b="1"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39238" y="4274503"/>
            <a:ext cx="9525" cy="129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3023" y="551618"/>
            <a:ext cx="16792428" cy="189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50" b="1" u="sng" dirty="0">
                <a:ea typeface="Canva Sans"/>
                <a:cs typeface="Canva Sans"/>
                <a:sym typeface="Canva Sans"/>
              </a:rPr>
              <a:t>DOMAIN DESCRIPTION (for Ion Thruster with Convergent Nozzle)</a:t>
            </a:r>
            <a:endParaRPr lang="en-US" sz="5450" b="1" u="sng" dirty="0">
              <a:ea typeface="Canva Sans"/>
              <a:cs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43023" y="3003692"/>
            <a:ext cx="17130206" cy="551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70"/>
              </a:lnSpc>
            </a:pPr>
            <a:r>
              <a:rPr lang="en-US" sz="4336" b="1" u="sng" dirty="0">
                <a:ea typeface="Times New Roman Bold"/>
                <a:cs typeface="Times New Roman Bold"/>
                <a:sym typeface="Times New Roman Bold"/>
              </a:rPr>
              <a:t>Electric Propulsion Systems</a:t>
            </a:r>
          </a:p>
          <a:p>
            <a:pPr marL="936194" lvl="1" indent="-468097" algn="l">
              <a:lnSpc>
                <a:spcPts val="6070"/>
              </a:lnSpc>
              <a:buFont typeface="Arial"/>
              <a:buChar char="•"/>
            </a:pPr>
            <a:r>
              <a:rPr lang="en-US" sz="4336" b="1" dirty="0">
                <a:ea typeface="Times New Roman Bold"/>
                <a:cs typeface="Times New Roman Bold"/>
                <a:sym typeface="Times New Roman Bold"/>
              </a:rPr>
              <a:t>Focuses on using electrical energy to accelerate charged particles (ions) and produce thrust for spacecraft.</a:t>
            </a:r>
          </a:p>
          <a:p>
            <a:pPr marL="936194" lvl="1" indent="-468097" algn="l">
              <a:lnSpc>
                <a:spcPts val="6070"/>
              </a:lnSpc>
              <a:buFont typeface="Arial"/>
              <a:buChar char="•"/>
            </a:pPr>
            <a:r>
              <a:rPr lang="en-US" sz="4336" b="1" dirty="0">
                <a:ea typeface="Times New Roman Bold"/>
                <a:cs typeface="Times New Roman Bold"/>
                <a:sym typeface="Times New Roman Bold"/>
              </a:rPr>
              <a:t>Provides high efficiency, low fuel consumption, and is ideal for deep-space and satellite missions.</a:t>
            </a:r>
          </a:p>
          <a:p>
            <a:pPr algn="ctr">
              <a:lnSpc>
                <a:spcPts val="6070"/>
              </a:lnSpc>
            </a:pPr>
            <a:endParaRPr lang="en-US" sz="4336" b="1" dirty="0"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6070"/>
              </a:lnSpc>
            </a:pPr>
            <a:endParaRPr lang="en-US" sz="4336" b="1" dirty="0"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39238" y="4274503"/>
            <a:ext cx="9525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229425" y="271912"/>
            <a:ext cx="9435949" cy="191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0"/>
              </a:lnSpc>
            </a:pPr>
            <a:r>
              <a:rPr lang="en-US" sz="5564" b="1" u="sng" dirty="0">
                <a:ea typeface="Times New Roman Bold"/>
                <a:cs typeface="Times New Roman Bold"/>
                <a:sym typeface="Times New Roman Bold"/>
              </a:rPr>
              <a:t>PROBLEM STATEMENT </a:t>
            </a:r>
          </a:p>
          <a:p>
            <a:pPr algn="ctr">
              <a:lnSpc>
                <a:spcPts val="7790"/>
              </a:lnSpc>
              <a:spcBef>
                <a:spcPct val="0"/>
              </a:spcBef>
            </a:pPr>
            <a:endParaRPr lang="en-US" sz="5564" b="1" dirty="0"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68448" y="2151925"/>
            <a:ext cx="17619552" cy="630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5570" lvl="1" indent="-467785" algn="l">
              <a:lnSpc>
                <a:spcPts val="6066"/>
              </a:lnSpc>
              <a:buFont typeface="Arial"/>
              <a:buChar char="•"/>
            </a:pPr>
            <a:r>
              <a:rPr lang="en-US" sz="4333" b="1" dirty="0">
                <a:ea typeface="Times New Roman Bold"/>
                <a:cs typeface="Times New Roman Bold"/>
                <a:sym typeface="Times New Roman Bold"/>
              </a:rPr>
              <a:t>Typical ion thrusters are too large, expensive, and complex for small satellites.</a:t>
            </a:r>
          </a:p>
          <a:p>
            <a:pPr marL="935570" lvl="1" indent="-467785" algn="l">
              <a:lnSpc>
                <a:spcPts val="6066"/>
              </a:lnSpc>
              <a:buFont typeface="Arial"/>
              <a:buChar char="•"/>
            </a:pPr>
            <a:r>
              <a:rPr lang="en-US" sz="4333" b="1" dirty="0">
                <a:ea typeface="Times New Roman Bold"/>
                <a:cs typeface="Times New Roman Bold"/>
                <a:sym typeface="Times New Roman Bold"/>
              </a:rPr>
              <a:t>CubeSats often lack propulsion, limiting maneuverability and mission lifespan.</a:t>
            </a:r>
          </a:p>
          <a:p>
            <a:pPr marL="935570" lvl="1" indent="-467785" algn="l">
              <a:lnSpc>
                <a:spcPts val="6066"/>
              </a:lnSpc>
              <a:buFont typeface="Arial"/>
              <a:buChar char="•"/>
            </a:pPr>
            <a:r>
              <a:rPr lang="en-US" sz="4333" b="1" dirty="0">
                <a:ea typeface="Times New Roman Bold"/>
                <a:cs typeface="Times New Roman Bold"/>
                <a:sym typeface="Times New Roman Bold"/>
              </a:rPr>
              <a:t>There is a need for a miniaturized, affordable, and efficient ion thruster solution.</a:t>
            </a:r>
          </a:p>
          <a:p>
            <a:pPr algn="l">
              <a:lnSpc>
                <a:spcPts val="6066"/>
              </a:lnSpc>
            </a:pPr>
            <a:endParaRPr lang="en-US" sz="4333" b="1" dirty="0"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6066"/>
              </a:lnSpc>
            </a:pPr>
            <a:endParaRPr lang="en-US" sz="4333" b="1" dirty="0"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39238" y="4274503"/>
            <a:ext cx="9525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229425" y="271912"/>
            <a:ext cx="9435949" cy="1917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0"/>
              </a:lnSpc>
            </a:pPr>
            <a:r>
              <a:rPr lang="en-US" sz="5500" b="1" u="sng" dirty="0">
                <a:ea typeface="Times New Roman Bold"/>
                <a:cs typeface="Times New Roman Bold"/>
                <a:sym typeface="Times New Roman Bold"/>
              </a:rPr>
              <a:t>OBJECTIVES</a:t>
            </a:r>
            <a:r>
              <a:rPr lang="en-US" sz="5564" b="1" dirty="0"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7790"/>
              </a:lnSpc>
              <a:spcBef>
                <a:spcPct val="0"/>
              </a:spcBef>
            </a:pPr>
            <a:endParaRPr lang="en-US" sz="5564" b="1" dirty="0"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30764"/>
            <a:ext cx="14428491" cy="6192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35570" lvl="1" indent="-467785" algn="just">
              <a:lnSpc>
                <a:spcPts val="6066"/>
              </a:lnSpc>
              <a:buFont typeface="Arial"/>
              <a:buChar char="•"/>
            </a:pPr>
            <a:r>
              <a:rPr lang="en-US" sz="4333" b="1" dirty="0">
                <a:ea typeface="Times New Roman Bold"/>
                <a:cs typeface="Times New Roman Bold"/>
                <a:sym typeface="Times New Roman Bold"/>
              </a:rPr>
              <a:t>Design a mini-ion thruster for small satellites.</a:t>
            </a:r>
          </a:p>
          <a:p>
            <a:pPr marL="935570" lvl="1" indent="-467785" algn="just">
              <a:lnSpc>
                <a:spcPts val="6066"/>
              </a:lnSpc>
              <a:buFont typeface="Arial"/>
              <a:buChar char="•"/>
            </a:pPr>
            <a:r>
              <a:rPr lang="en-US" sz="4333" b="1" dirty="0">
                <a:ea typeface="Times New Roman Bold"/>
                <a:cs typeface="Times New Roman Bold"/>
                <a:sym typeface="Times New Roman Bold"/>
              </a:rPr>
              <a:t>Develop a 3D-printed convergent nozzle (Nylon 6 prototype).</a:t>
            </a:r>
          </a:p>
          <a:p>
            <a:pPr marL="935570" lvl="1" indent="-467785" algn="just">
              <a:lnSpc>
                <a:spcPts val="6066"/>
              </a:lnSpc>
              <a:buFont typeface="Arial"/>
              <a:buChar char="•"/>
            </a:pPr>
            <a:r>
              <a:rPr lang="en-US" sz="4333" b="1" dirty="0">
                <a:ea typeface="Times New Roman Bold"/>
                <a:cs typeface="Times New Roman Bold"/>
                <a:sym typeface="Times New Roman Bold"/>
              </a:rPr>
              <a:t>Validate design through simulation and experimental testing.</a:t>
            </a:r>
          </a:p>
          <a:p>
            <a:pPr algn="just">
              <a:lnSpc>
                <a:spcPts val="6066"/>
              </a:lnSpc>
            </a:pPr>
            <a:endParaRPr lang="en-US" sz="4333" b="1" dirty="0"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6066"/>
              </a:lnSpc>
            </a:pPr>
            <a:endParaRPr lang="en-US" sz="4333" b="1" dirty="0"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6066"/>
              </a:lnSpc>
            </a:pPr>
            <a:endParaRPr lang="en-US" sz="4333" b="1" dirty="0"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474074" y="5108962"/>
            <a:ext cx="4946650" cy="91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 u="sng" dirty="0">
                <a:ea typeface="Times New Roman Bold"/>
                <a:cs typeface="Times New Roman Bold"/>
                <a:sym typeface="Times New Roman Bold"/>
              </a:rPr>
              <a:t>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067793"/>
            <a:ext cx="15800463" cy="4629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3297" lvl="1" indent="-471649" algn="l">
              <a:lnSpc>
                <a:spcPts val="6116"/>
              </a:lnSpc>
              <a:buFont typeface="Arial"/>
              <a:buChar char="•"/>
            </a:pPr>
            <a:r>
              <a:rPr lang="en-US" sz="4369" b="1" dirty="0">
                <a:ea typeface="Times New Roman Bold"/>
                <a:cs typeface="Times New Roman Bold"/>
                <a:sym typeface="Times New Roman Bold"/>
              </a:rPr>
              <a:t>Increasing demand for low-cost, lightweight satellite propulsion.</a:t>
            </a:r>
          </a:p>
          <a:p>
            <a:pPr marL="943297" lvl="1" indent="-471649" algn="l">
              <a:lnSpc>
                <a:spcPts val="6116"/>
              </a:lnSpc>
              <a:buFont typeface="Arial"/>
              <a:buChar char="•"/>
            </a:pPr>
            <a:r>
              <a:rPr lang="en-US" sz="4369" b="1" dirty="0">
                <a:ea typeface="Times New Roman Bold"/>
                <a:cs typeface="Times New Roman Bold"/>
                <a:sym typeface="Times New Roman Bold"/>
              </a:rPr>
              <a:t>Miniaturization is key for next-gen space missions.</a:t>
            </a:r>
          </a:p>
          <a:p>
            <a:pPr marL="943297" lvl="1" indent="-471649" algn="l">
              <a:lnSpc>
                <a:spcPts val="6116"/>
              </a:lnSpc>
              <a:buFont typeface="Arial"/>
              <a:buChar char="•"/>
            </a:pPr>
            <a:r>
              <a:rPr lang="en-US" sz="4369" b="1" dirty="0">
                <a:ea typeface="Times New Roman Bold"/>
                <a:cs typeface="Times New Roman Bold"/>
                <a:sym typeface="Times New Roman Bold"/>
              </a:rPr>
              <a:t>Leverage additive manufacturing to achieve cost efficiency and flexibility</a:t>
            </a:r>
          </a:p>
          <a:p>
            <a:pPr algn="l">
              <a:lnSpc>
                <a:spcPts val="6116"/>
              </a:lnSpc>
            </a:pPr>
            <a:endParaRPr lang="en-US" sz="4369" b="1" dirty="0"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39238" y="4274503"/>
            <a:ext cx="9525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0" y="255822"/>
            <a:ext cx="17697570" cy="189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u="sng" dirty="0">
                <a:ea typeface="Canva Sans Bold"/>
                <a:cs typeface="Canva Sans Bold"/>
                <a:sym typeface="Canva Sans Bold"/>
              </a:rPr>
              <a:t>THEORY OF ION THRUSTER WITH CONVERGENT NOZZLE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0324" y="1900127"/>
            <a:ext cx="16283847" cy="216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3"/>
              </a:lnSpc>
            </a:pPr>
            <a:r>
              <a:rPr lang="en-US" sz="3037" b="1" u="sng" dirty="0">
                <a:ea typeface="Canva Sans Bold"/>
                <a:cs typeface="Canva Sans Bold"/>
                <a:sym typeface="Canva Sans Bold"/>
              </a:rPr>
              <a:t>ION THRUSTER</a:t>
            </a:r>
          </a:p>
          <a:p>
            <a:pPr marL="655889" lvl="1" indent="-327944" algn="l">
              <a:lnSpc>
                <a:spcPts val="4253"/>
              </a:lnSpc>
              <a:buFont typeface="Arial"/>
              <a:buChar char="•"/>
            </a:pPr>
            <a:r>
              <a:rPr lang="en-US" sz="3037" b="1" dirty="0">
                <a:ea typeface="Canva Sans Bold"/>
                <a:cs typeface="Canva Sans Bold"/>
                <a:sym typeface="Canva Sans Bold"/>
              </a:rPr>
              <a:t>An electric propulsion system using ions to generate thrust.</a:t>
            </a:r>
          </a:p>
          <a:p>
            <a:pPr marL="655889" lvl="1" indent="-327944" algn="l">
              <a:lnSpc>
                <a:spcPts val="4253"/>
              </a:lnSpc>
              <a:buFont typeface="Arial"/>
              <a:buChar char="•"/>
            </a:pPr>
            <a:r>
              <a:rPr lang="en-US" sz="3037" b="1" dirty="0">
                <a:ea typeface="Canva Sans Bold"/>
                <a:cs typeface="Canva Sans Bold"/>
                <a:sym typeface="Canva Sans Bold"/>
              </a:rPr>
              <a:t>Highly efficient for long-duration space missions.</a:t>
            </a:r>
          </a:p>
          <a:p>
            <a:pPr algn="l">
              <a:lnSpc>
                <a:spcPts val="4253"/>
              </a:lnSpc>
            </a:pPr>
            <a:endParaRPr lang="en-US" sz="3037" b="1" dirty="0"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0324" y="5372100"/>
            <a:ext cx="17827676" cy="381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7"/>
              </a:lnSpc>
            </a:pPr>
            <a:r>
              <a:rPr lang="en-US" sz="3076" b="1" u="sng" dirty="0">
                <a:ea typeface="Canva Sans Bold"/>
                <a:cs typeface="Canva Sans Bold"/>
                <a:sym typeface="Canva Sans Bold"/>
              </a:rPr>
              <a:t>WORKING PRINCIPAL OVERVIEW</a:t>
            </a:r>
          </a:p>
          <a:p>
            <a:pPr marL="664229" lvl="1" indent="-332115" algn="l">
              <a:lnSpc>
                <a:spcPts val="4307"/>
              </a:lnSpc>
              <a:buAutoNum type="arabicPeriod"/>
            </a:pPr>
            <a:r>
              <a:rPr lang="en-US" sz="3076" b="1" dirty="0">
                <a:ea typeface="Canva Sans Bold"/>
                <a:cs typeface="Canva Sans Bold"/>
                <a:sym typeface="Canva Sans Bold"/>
              </a:rPr>
              <a:t>Ionization of Propellant: Neutral gas (e.g., xenon) is ionized using a high-voltage electrode.</a:t>
            </a:r>
          </a:p>
          <a:p>
            <a:pPr marL="664229" lvl="1" indent="-332115" algn="l">
              <a:lnSpc>
                <a:spcPts val="4307"/>
              </a:lnSpc>
              <a:buAutoNum type="arabicPeriod"/>
            </a:pPr>
            <a:r>
              <a:rPr lang="en-US" sz="3076" b="1" dirty="0">
                <a:ea typeface="Canva Sans Bold"/>
                <a:cs typeface="Canva Sans Bold"/>
                <a:sym typeface="Canva Sans Bold"/>
              </a:rPr>
              <a:t>Acceleration of Ions: Ions are accelerated by an electrostatic field to high speeds.</a:t>
            </a:r>
          </a:p>
          <a:p>
            <a:pPr marL="664229" lvl="1" indent="-332115" algn="l">
              <a:lnSpc>
                <a:spcPts val="4307"/>
              </a:lnSpc>
              <a:buAutoNum type="arabicPeriod"/>
            </a:pPr>
            <a:r>
              <a:rPr lang="en-US" sz="3076" b="1" dirty="0">
                <a:ea typeface="Canva Sans Bold"/>
                <a:cs typeface="Canva Sans Bold"/>
                <a:sym typeface="Canva Sans Bold"/>
              </a:rPr>
              <a:t>Convergent Nozzle: The ions are passed through a convergent nozzle, further accelerating them and generating thrust.</a:t>
            </a:r>
          </a:p>
          <a:p>
            <a:pPr marL="664229" lvl="1" indent="-332115" algn="l">
              <a:lnSpc>
                <a:spcPts val="4307"/>
              </a:lnSpc>
              <a:buAutoNum type="arabicPeriod"/>
            </a:pPr>
            <a:r>
              <a:rPr lang="en-US" sz="3076" b="1" dirty="0">
                <a:ea typeface="Canva Sans Bold"/>
                <a:cs typeface="Canva Sans Bold"/>
                <a:sym typeface="Canva Sans Bold"/>
              </a:rPr>
              <a:t>Neutralization: Electrons are introduced to neutralize the ion beam and maintain electrical neutrality.</a:t>
            </a:r>
          </a:p>
          <a:p>
            <a:pPr algn="l">
              <a:lnSpc>
                <a:spcPts val="4307"/>
              </a:lnSpc>
            </a:pPr>
            <a:endParaRPr lang="en-US" sz="3076" b="1" dirty="0"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139238" y="4274503"/>
            <a:ext cx="9525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208034" y="255823"/>
            <a:ext cx="16489536" cy="1893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u="sng" dirty="0">
                <a:ea typeface="Canva Sans Bold"/>
                <a:cs typeface="Canva Sans Bold"/>
                <a:sym typeface="Canva Sans Bold"/>
              </a:rPr>
              <a:t>THEORY OF ION THRUSTER WITH CONVERGENT NOZZLE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6119" y="2097324"/>
            <a:ext cx="16283847" cy="104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3"/>
              </a:lnSpc>
            </a:pPr>
            <a:endParaRPr/>
          </a:p>
          <a:p>
            <a:pPr algn="l">
              <a:lnSpc>
                <a:spcPts val="4253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94395" y="2356926"/>
            <a:ext cx="17893605" cy="371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200" b="1" u="sng" dirty="0">
                <a:ea typeface="Canva Sans Bold"/>
                <a:cs typeface="Canva Sans Bold"/>
                <a:sym typeface="Canva Sans Bold"/>
              </a:rPr>
              <a:t>Working Process: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200" b="1" dirty="0">
                <a:ea typeface="Canva Sans Bold"/>
                <a:cs typeface="Canva Sans Bold"/>
                <a:sym typeface="Canva Sans Bold"/>
              </a:rPr>
              <a:t>Ionization: Propellant is ionized, creating positively charged ions.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200" b="1" dirty="0">
                <a:ea typeface="Canva Sans Bold"/>
                <a:cs typeface="Canva Sans Bold"/>
                <a:sym typeface="Canva Sans Bold"/>
              </a:rPr>
              <a:t>Acceleration: Ions are accelerated by a high-voltage electric field.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200" b="1" dirty="0">
                <a:ea typeface="Canva Sans Bold"/>
                <a:cs typeface="Canva Sans Bold"/>
                <a:sym typeface="Canva Sans Bold"/>
              </a:rPr>
              <a:t>Thrust Generation: The convergent nozzle increases the velocity of the ions, creating thrust (Newton's Third Law).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200" b="1" dirty="0">
                <a:ea typeface="Canva Sans Bold"/>
                <a:cs typeface="Canva Sans Bold"/>
                <a:sym typeface="Canva Sans Bold"/>
              </a:rPr>
              <a:t>Neutralization: A cathode neutralizer emits electrons to neutralize the ion flow.</a:t>
            </a:r>
          </a:p>
          <a:p>
            <a:pPr algn="l">
              <a:lnSpc>
                <a:spcPts val="4200"/>
              </a:lnSpc>
            </a:pPr>
            <a:endParaRPr lang="en-US" sz="3000" b="1" dirty="0"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7197" y="6271699"/>
            <a:ext cx="18288000" cy="228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 dirty="0"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400" b="1" u="sng" dirty="0">
                <a:ea typeface="Canva Sans Bold"/>
                <a:cs typeface="Canva Sans Bold"/>
                <a:sym typeface="Canva Sans Bold"/>
              </a:rPr>
              <a:t>Efficiency: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 dirty="0">
                <a:ea typeface="Canva Sans Bold"/>
                <a:cs typeface="Canva Sans Bold"/>
                <a:sym typeface="Canva Sans Bold"/>
              </a:rPr>
              <a:t>High Specific Impulse (Isp): Ion thrusters are more fuel-efficient than traditional chemical rockets, ideal for long-term space missions.</a:t>
            </a:r>
          </a:p>
          <a:p>
            <a:pPr algn="l">
              <a:lnSpc>
                <a:spcPts val="4200"/>
              </a:lnSpc>
            </a:pPr>
            <a:endParaRPr lang="en-US" sz="3400" b="1" dirty="0"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60828" y="1378505"/>
            <a:ext cx="8575869" cy="8315407"/>
            <a:chOff x="0" y="0"/>
            <a:chExt cx="83825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8259" cy="812800"/>
            </a:xfrm>
            <a:custGeom>
              <a:avLst/>
              <a:gdLst/>
              <a:ahLst/>
              <a:cxnLst/>
              <a:rect l="l" t="t" r="r" b="b"/>
              <a:pathLst>
                <a:path w="838259" h="812800">
                  <a:moveTo>
                    <a:pt x="0" y="0"/>
                  </a:moveTo>
                  <a:lnTo>
                    <a:pt x="838259" y="0"/>
                  </a:lnTo>
                  <a:lnTo>
                    <a:pt x="83825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566" b="-156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139238" y="4274503"/>
            <a:ext cx="9525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020396" y="217722"/>
            <a:ext cx="5656779" cy="116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b="1" dirty="0"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6799" b="1" u="sng" dirty="0">
                <a:ea typeface="Canva Sans Bold"/>
                <a:cs typeface="Canva Sans Bold"/>
                <a:sym typeface="Canva Sans Bold"/>
              </a:rPr>
              <a:t>ION Thruster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98913" y="2197180"/>
            <a:ext cx="11940487" cy="7061120"/>
            <a:chOff x="0" y="0"/>
            <a:chExt cx="137446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4460" cy="812800"/>
            </a:xfrm>
            <a:custGeom>
              <a:avLst/>
              <a:gdLst/>
              <a:ahLst/>
              <a:cxnLst/>
              <a:rect l="l" t="t" r="r" b="b"/>
              <a:pathLst>
                <a:path w="1374460" h="812800">
                  <a:moveTo>
                    <a:pt x="0" y="0"/>
                  </a:moveTo>
                  <a:lnTo>
                    <a:pt x="1374460" y="0"/>
                  </a:lnTo>
                  <a:lnTo>
                    <a:pt x="137446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15" r="-11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139238" y="4274503"/>
            <a:ext cx="9525" cy="129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020396" y="217722"/>
            <a:ext cx="5656779" cy="116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b="1" dirty="0"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6799" b="1" u="sng" dirty="0">
                <a:ea typeface="Canva Sans Bold"/>
                <a:cs typeface="Canva Sans Bold"/>
                <a:sym typeface="Canva Sans Bold"/>
              </a:rPr>
              <a:t>ION Thruster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76400" y="21771"/>
            <a:ext cx="14418244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1"/>
              </a:lnSpc>
            </a:pPr>
            <a:r>
              <a:rPr lang="en-US" sz="6343" b="1" u="sng" spc="152" dirty="0">
                <a:ea typeface="Canva Sans Bold"/>
                <a:cs typeface="Canva Sans Bold"/>
                <a:sym typeface="Canva Sans Bold"/>
              </a:rPr>
              <a:t> INNOVATION IN 3D-PRINTED ION THRUSTER NOZZLE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180" y="6265468"/>
            <a:ext cx="16959753" cy="326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3072" b="1" u="sng" dirty="0">
                <a:ea typeface="Times New Roman Bold"/>
                <a:cs typeface="Times New Roman Bold"/>
                <a:sym typeface="Times New Roman Bold"/>
              </a:rPr>
              <a:t>2. How It Will Be Useful?</a:t>
            </a:r>
          </a:p>
          <a:p>
            <a:pPr marL="457200" indent="-457200" algn="l">
              <a:lnSpc>
                <a:spcPts val="4301"/>
              </a:lnSpc>
              <a:buFont typeface="Arial" panose="020B0604020202020204" pitchFamily="34" charset="0"/>
              <a:buChar char="•"/>
            </a:pPr>
            <a:r>
              <a:rPr lang="en-US" sz="3072" b="1" dirty="0">
                <a:ea typeface="Times New Roman Bold"/>
                <a:cs typeface="Times New Roman Bold"/>
                <a:sym typeface="Times New Roman Bold"/>
              </a:rPr>
              <a:t>Cost-Effective:</a:t>
            </a:r>
            <a:r>
              <a:rPr lang="en-US" sz="3072" dirty="0">
                <a:ea typeface="Times New Roman"/>
                <a:cs typeface="Times New Roman"/>
                <a:sym typeface="Times New Roman"/>
              </a:rPr>
              <a:t> Nylon 6 for early-stage testing, CF-PEEK for real missions, reducing overall costs.</a:t>
            </a:r>
          </a:p>
          <a:p>
            <a:pPr marL="457200" indent="-457200" algn="l">
              <a:lnSpc>
                <a:spcPts val="4301"/>
              </a:lnSpc>
              <a:buFont typeface="Arial" panose="020B0604020202020204" pitchFamily="34" charset="0"/>
              <a:buChar char="•"/>
            </a:pPr>
            <a:r>
              <a:rPr lang="en-US" sz="3072" b="1" dirty="0">
                <a:ea typeface="Times New Roman Bold"/>
                <a:cs typeface="Times New Roman Bold"/>
                <a:sym typeface="Times New Roman Bold"/>
              </a:rPr>
              <a:t>Faster Prototyping:</a:t>
            </a:r>
            <a:r>
              <a:rPr lang="en-US" sz="3072" dirty="0">
                <a:ea typeface="Times New Roman"/>
                <a:cs typeface="Times New Roman"/>
                <a:sym typeface="Times New Roman"/>
              </a:rPr>
              <a:t> 3D printing speeds up development, unlike traditional materials requiring molding or machining.</a:t>
            </a:r>
          </a:p>
          <a:p>
            <a:pPr marL="457200" indent="-457200" algn="l">
              <a:lnSpc>
                <a:spcPts val="4301"/>
              </a:lnSpc>
              <a:buFont typeface="Arial" panose="020B0604020202020204" pitchFamily="34" charset="0"/>
              <a:buChar char="•"/>
            </a:pPr>
            <a:r>
              <a:rPr lang="en-US" sz="3072" b="1" dirty="0">
                <a:ea typeface="Times New Roman Bold"/>
                <a:cs typeface="Times New Roman Bold"/>
                <a:sym typeface="Times New Roman Bold"/>
              </a:rPr>
              <a:t>Weight Reduction:</a:t>
            </a:r>
            <a:r>
              <a:rPr lang="en-US" sz="3072" dirty="0">
                <a:ea typeface="Times New Roman"/>
                <a:cs typeface="Times New Roman"/>
                <a:sym typeface="Times New Roman"/>
              </a:rPr>
              <a:t> Lighter than metal &amp; ceramics, improving fuel efficiency in space.</a:t>
            </a:r>
          </a:p>
          <a:p>
            <a:pPr algn="l">
              <a:lnSpc>
                <a:spcPts val="4301"/>
              </a:lnSpc>
            </a:pPr>
            <a:endParaRPr lang="en-US" sz="3072" dirty="0"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63180" y="2171700"/>
            <a:ext cx="18567871" cy="4264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 dirty="0">
                <a:ea typeface="Times New Roman Bold"/>
                <a:cs typeface="Times New Roman Bold"/>
                <a:sym typeface="Times New Roman Bold"/>
              </a:rPr>
              <a:t> 1. Innovation</a:t>
            </a:r>
          </a:p>
          <a:p>
            <a:pPr algn="l">
              <a:lnSpc>
                <a:spcPts val="4200"/>
              </a:lnSpc>
            </a:pPr>
            <a:r>
              <a:rPr lang="en-US" sz="3000" b="1" dirty="0">
                <a:ea typeface="Times New Roman Bold"/>
                <a:cs typeface="Times New Roman Bold"/>
                <a:sym typeface="Times New Roman Bold"/>
              </a:rPr>
              <a:t>✅ Dual-Material Strategy: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ea typeface="Times New Roman"/>
                <a:cs typeface="Times New Roman"/>
                <a:sym typeface="Times New Roman"/>
              </a:rPr>
              <a:t>Nylon 6 (for small-scale, low-cost prototyping).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ea typeface="Times New Roman"/>
                <a:cs typeface="Times New Roman"/>
                <a:sym typeface="Times New Roman"/>
              </a:rPr>
              <a:t> CF-PEEK (for high-temperature, space applications).</a:t>
            </a:r>
          </a:p>
          <a:p>
            <a:pPr algn="l">
              <a:lnSpc>
                <a:spcPts val="4200"/>
              </a:lnSpc>
            </a:pPr>
            <a:endParaRPr lang="en-US" sz="3000" dirty="0"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00"/>
              </a:lnSpc>
            </a:pPr>
            <a:r>
              <a:rPr lang="en-US" sz="3000" b="1" dirty="0">
                <a:ea typeface="Times New Roman Bold"/>
                <a:cs typeface="Times New Roman Bold"/>
                <a:sym typeface="Times New Roman Bold"/>
              </a:rPr>
              <a:t>✅ 3D Printing Integration: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ea typeface="Times New Roman"/>
                <a:cs typeface="Times New Roman"/>
                <a:sym typeface="Times New Roman"/>
              </a:rPr>
              <a:t>Lightweight, faster manufacturing, and low material waste.</a:t>
            </a:r>
          </a:p>
          <a:p>
            <a:pPr algn="l">
              <a:lnSpc>
                <a:spcPts val="4200"/>
              </a:lnSpc>
            </a:pPr>
            <a:endParaRPr lang="en-US" sz="3000" dirty="0"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921143"/>
              </p:ext>
            </p:extLst>
          </p:nvPr>
        </p:nvGraphicFramePr>
        <p:xfrm>
          <a:off x="2743200" y="3771900"/>
          <a:ext cx="13258801" cy="6255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0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1317">
                <a:tc>
                  <a:txBody>
                    <a:bodyPr/>
                    <a:lstStyle/>
                    <a:p>
                      <a:pPr algn="l">
                        <a:lnSpc>
                          <a:spcPts val="350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Property</a:t>
                      </a: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Nylon 6 (Prototype)</a:t>
                      </a: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CF-PEEK (Space Use)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76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Thermal Resistance</a:t>
                      </a: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~180°C (moderate)</a:t>
                      </a: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&gt;250°C (excellent)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276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Strength</a:t>
                      </a: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Good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Very High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276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Cost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Low (affordable)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High (premium aerospace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sym typeface="Canva Sans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-grade)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276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Ease of Printing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Easy (FDM 3D Printers)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Difficult (needs industrial</a:t>
                      </a: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sym typeface="Canva Sans"/>
                      </a:endParaRPr>
                    </a:p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 printer)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2763"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Application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Lab testing and experiments</a:t>
                      </a:r>
                      <a:endParaRPr lang="en-US" sz="24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20"/>
                        </a:lnSpc>
                        <a:defRPr/>
                      </a:pPr>
                      <a:r>
                        <a:rPr lang="en-US" sz="2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Canva Sans"/>
                        </a:rPr>
                        <a:t>Space operational conditions</a:t>
                      </a:r>
                      <a:endParaRPr lang="en-US" sz="2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833934" y="259966"/>
            <a:ext cx="1441824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1"/>
              </a:lnSpc>
            </a:pPr>
            <a:r>
              <a:rPr lang="en-US" sz="6343" b="1" u="sng" spc="152">
                <a:ea typeface="Canva Sans Bold"/>
                <a:cs typeface="Canva Sans Bold"/>
                <a:sym typeface="Canva Sans Bold"/>
              </a:rPr>
              <a:t>MATERIAL SELECTED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840161"/>
            <a:ext cx="12672021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u="sng" dirty="0">
                <a:ea typeface="Canva Sans Bold"/>
                <a:cs typeface="Canva Sans Bold"/>
                <a:sym typeface="Canva Sans Bold"/>
              </a:rPr>
              <a:t>Materials Used: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ea typeface="Canva Sans Bold"/>
                <a:cs typeface="Canva Sans Bold"/>
                <a:sym typeface="Canva Sans Bold"/>
              </a:rPr>
              <a:t>Nylon 6 — for Prototype Fabrication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ea typeface="Canva Sans Bold"/>
                <a:cs typeface="Canva Sans Bold"/>
                <a:sym typeface="Canva Sans Bold"/>
              </a:rPr>
              <a:t>CF-PEEK — for Simulation and Future Space Applications</a:t>
            </a:r>
          </a:p>
          <a:p>
            <a:pPr algn="l">
              <a:lnSpc>
                <a:spcPts val="4759"/>
              </a:lnSpc>
            </a:pPr>
            <a:endParaRPr lang="en-US" sz="3399" b="1" dirty="0"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362433"/>
              </p:ext>
            </p:extLst>
          </p:nvPr>
        </p:nvGraphicFramePr>
        <p:xfrm>
          <a:off x="1576530" y="1341156"/>
          <a:ext cx="15682771" cy="865342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3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6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8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1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4978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Feature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CF-PEEK &amp; Nylon 6 (3D-Printed)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Ceramic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Metal (Inconel 718)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Canva Sans Bold"/>
                        </a:rPr>
                        <a:t>Graphite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819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Cost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Low (₹600-₹24,000)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High (₹40,000+)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Very High (₹70,000+)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Moderate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819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Manufacturing Time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Fast (6-12 hrs)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Slow (Sintering takes weeks)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Slow (Machining takes weeks)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❌ Moderate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10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Weight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Lightweight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❌ Heavy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Very Heavy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Lightweight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819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Durability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PEEK: High, Nylon 6: Moderate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Very High but brittle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Extremely High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❌ Moderate (Erosion issues)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8191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Thermal Resistance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PEEK: 343°C, Nylon 6: 220°C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Ceramic: 1200°C+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Inconel: 1100°C+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Graphite: 600-800°C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978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Suitability for 3D Printing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✅ Excellent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Limited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❌ Difficult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✅ Possible but costly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667613" y="141605"/>
            <a:ext cx="1449984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u="sng" dirty="0">
                <a:ea typeface="Canva Sans Bold"/>
                <a:cs typeface="Canva Sans Bold"/>
                <a:sym typeface="Canva Sans Bold"/>
              </a:rPr>
              <a:t>PEEK &amp; Nylon 6 vs Other Nozzle Materials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77505" y="2678458"/>
            <a:ext cx="15732989" cy="5895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4"/>
              </a:lnSpc>
            </a:pPr>
            <a:r>
              <a:rPr lang="en-US" sz="3024" b="1" u="sng">
                <a:ea typeface="The Seasons Bold"/>
                <a:cs typeface="The Seasons Bold"/>
                <a:sym typeface="The Seasons Bold"/>
              </a:rPr>
              <a:t> Why (CF-PEEK &amp; Nylon 6) is the Best Choice?</a:t>
            </a:r>
          </a:p>
          <a:p>
            <a:pPr algn="l">
              <a:lnSpc>
                <a:spcPts val="4234"/>
              </a:lnSpc>
            </a:pPr>
            <a:endParaRPr lang="en-US" sz="3024" b="1" u="sng"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4234"/>
              </a:lnSpc>
            </a:pPr>
            <a:r>
              <a:rPr lang="en-US" sz="3024" b="1">
                <a:ea typeface="The Seasons Bold"/>
                <a:cs typeface="The Seasons Bold"/>
                <a:sym typeface="The Seasons Bold"/>
              </a:rPr>
              <a:t>✅</a:t>
            </a:r>
            <a:r>
              <a:rPr lang="en-US" sz="3024">
                <a:ea typeface="The Seasons"/>
                <a:cs typeface="The Seasons"/>
                <a:sym typeface="The Seasons"/>
              </a:rPr>
              <a:t> </a:t>
            </a:r>
            <a:r>
              <a:rPr lang="en-US" sz="3024" b="1">
                <a:ea typeface="The Seasons Bold"/>
                <a:cs typeface="The Seasons Bold"/>
                <a:sym typeface="The Seasons Bold"/>
              </a:rPr>
              <a:t>Cost-Effective: </a:t>
            </a:r>
            <a:r>
              <a:rPr lang="en-US" sz="3024">
                <a:ea typeface="The Seasons"/>
                <a:cs typeface="The Seasons"/>
                <a:sym typeface="The Seasons"/>
              </a:rPr>
              <a:t>Cheaper than metal &amp; ceramic while maintaining good performance.</a:t>
            </a:r>
          </a:p>
          <a:p>
            <a:pPr algn="l">
              <a:lnSpc>
                <a:spcPts val="4234"/>
              </a:lnSpc>
            </a:pPr>
            <a:endParaRPr lang="en-US" sz="3024">
              <a:ea typeface="The Seasons"/>
              <a:cs typeface="The Seasons"/>
              <a:sym typeface="The Seasons"/>
            </a:endParaRPr>
          </a:p>
          <a:p>
            <a:pPr algn="l">
              <a:lnSpc>
                <a:spcPts val="4234"/>
              </a:lnSpc>
            </a:pPr>
            <a:r>
              <a:rPr lang="en-US" sz="3024">
                <a:ea typeface="The Seasons"/>
                <a:cs typeface="The Seasons"/>
                <a:sym typeface="The Seasons"/>
              </a:rPr>
              <a:t>✅ </a:t>
            </a:r>
            <a:r>
              <a:rPr lang="en-US" sz="3024" b="1">
                <a:ea typeface="The Seasons Bold"/>
                <a:cs typeface="The Seasons Bold"/>
                <a:sym typeface="The Seasons Bold"/>
              </a:rPr>
              <a:t>Fast Production:</a:t>
            </a:r>
            <a:r>
              <a:rPr lang="en-US" sz="3024">
                <a:ea typeface="The Seasons"/>
                <a:cs typeface="The Seasons"/>
                <a:sym typeface="The Seasons"/>
              </a:rPr>
              <a:t> 3D printing reduces manufacturing time, unlike ceramics &amp; metals.</a:t>
            </a:r>
          </a:p>
          <a:p>
            <a:pPr algn="l">
              <a:lnSpc>
                <a:spcPts val="4234"/>
              </a:lnSpc>
            </a:pPr>
            <a:endParaRPr lang="en-US" sz="3024">
              <a:ea typeface="The Seasons"/>
              <a:cs typeface="The Seasons"/>
              <a:sym typeface="The Seasons"/>
            </a:endParaRPr>
          </a:p>
          <a:p>
            <a:pPr algn="l">
              <a:lnSpc>
                <a:spcPts val="4234"/>
              </a:lnSpc>
            </a:pPr>
            <a:r>
              <a:rPr lang="en-US" sz="3024">
                <a:ea typeface="The Seasons"/>
                <a:cs typeface="The Seasons"/>
                <a:sym typeface="The Seasons"/>
              </a:rPr>
              <a:t>✅ </a:t>
            </a:r>
            <a:r>
              <a:rPr lang="en-US" sz="3024" b="1">
                <a:ea typeface="The Seasons Bold"/>
                <a:cs typeface="The Seasons Bold"/>
                <a:sym typeface="The Seasons Bold"/>
              </a:rPr>
              <a:t>Good Thermal Resistance:</a:t>
            </a:r>
            <a:r>
              <a:rPr lang="en-US" sz="3024">
                <a:ea typeface="The Seasons"/>
                <a:cs typeface="The Seasons"/>
                <a:sym typeface="The Seasons"/>
              </a:rPr>
              <a:t> PEEK handles high temperatures well, making it suitable for space missions.</a:t>
            </a:r>
          </a:p>
          <a:p>
            <a:pPr algn="l">
              <a:lnSpc>
                <a:spcPts val="4234"/>
              </a:lnSpc>
            </a:pPr>
            <a:endParaRPr lang="en-US" sz="3024">
              <a:ea typeface="The Seasons"/>
              <a:cs typeface="The Seasons"/>
              <a:sym typeface="The Seasons"/>
            </a:endParaRPr>
          </a:p>
          <a:p>
            <a:pPr algn="l">
              <a:lnSpc>
                <a:spcPts val="4234"/>
              </a:lnSpc>
            </a:pPr>
            <a:r>
              <a:rPr lang="en-US" sz="3024">
                <a:ea typeface="The Seasons"/>
                <a:cs typeface="The Seasons"/>
                <a:sym typeface="The Seasons"/>
              </a:rPr>
              <a:t>✅ </a:t>
            </a:r>
            <a:r>
              <a:rPr lang="en-US" sz="3024" b="1">
                <a:ea typeface="The Seasons Bold"/>
                <a:cs typeface="The Seasons Bold"/>
                <a:sym typeface="The Seasons Bold"/>
              </a:rPr>
              <a:t>Lightweight:</a:t>
            </a:r>
            <a:r>
              <a:rPr lang="en-US" sz="3024">
                <a:ea typeface="The Seasons"/>
                <a:cs typeface="The Seasons"/>
                <a:sym typeface="The Seasons"/>
              </a:rPr>
              <a:t> Lower mass → More efficient propulsion in spacecraft.</a:t>
            </a:r>
          </a:p>
          <a:p>
            <a:pPr algn="ctr">
              <a:lnSpc>
                <a:spcPts val="4234"/>
              </a:lnSpc>
            </a:pPr>
            <a:endParaRPr lang="en-US" sz="3024">
              <a:ea typeface="The Seasons"/>
              <a:cs typeface="The Seasons"/>
              <a:sym typeface="The Seaso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01943" y="281059"/>
            <a:ext cx="15591407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1"/>
              </a:lnSpc>
            </a:pPr>
            <a:r>
              <a:rPr lang="en-US" sz="5767" b="1" u="sng" spc="138">
                <a:ea typeface="Canva Sans Bold"/>
                <a:cs typeface="Canva Sans Bold"/>
                <a:sym typeface="Canva Sans Bold"/>
              </a:rPr>
              <a:t> INNOVATION IN 3D-PRINTED ION THRUSTER NOZZLE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55859"/>
            <a:ext cx="16807271" cy="6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4085" b="1" u="sng">
                <a:ea typeface="Canva Sans Bold"/>
                <a:cs typeface="Canva Sans Bold"/>
                <a:sym typeface="Canva Sans Bold"/>
              </a:rPr>
              <a:t>Prototype Development Process for 3D-Printed Ion Thruster Nozzle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8933" y="2161891"/>
            <a:ext cx="14790799" cy="743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5"/>
              </a:lnSpc>
            </a:pPr>
            <a:r>
              <a:rPr lang="en-US" sz="3189" b="1">
                <a:ea typeface="The Seasons Bold"/>
                <a:cs typeface="The Seasons Bold"/>
                <a:sym typeface="The Seasons Bold"/>
              </a:rPr>
              <a:t>Step 01 - Material Selection &amp; Equipment Preparation</a:t>
            </a:r>
          </a:p>
          <a:p>
            <a:pPr algn="l">
              <a:lnSpc>
                <a:spcPts val="4465"/>
              </a:lnSpc>
            </a:pPr>
            <a:endParaRPr lang="en-US" sz="3189" b="1"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4465"/>
              </a:lnSpc>
            </a:pPr>
            <a:r>
              <a:rPr lang="en-US" sz="3189" b="1">
                <a:ea typeface="The Seasons Bold"/>
                <a:cs typeface="The Seasons Bold"/>
                <a:sym typeface="The Seasons Bold"/>
              </a:rPr>
              <a:t>Step 02 - Nozzle Design &amp; Simulation (Fusion 360)</a:t>
            </a:r>
          </a:p>
          <a:p>
            <a:pPr algn="l">
              <a:lnSpc>
                <a:spcPts val="4465"/>
              </a:lnSpc>
            </a:pPr>
            <a:endParaRPr lang="en-US" sz="3189" b="1"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4465"/>
              </a:lnSpc>
            </a:pPr>
            <a:r>
              <a:rPr lang="en-US" sz="3189" b="1">
                <a:ea typeface="The Seasons Bold"/>
                <a:cs typeface="The Seasons Bold"/>
                <a:sym typeface="The Seasons Bold"/>
              </a:rPr>
              <a:t>Step 03 - 3D Printing of the Nozzle</a:t>
            </a:r>
          </a:p>
          <a:p>
            <a:pPr algn="l">
              <a:lnSpc>
                <a:spcPts val="4465"/>
              </a:lnSpc>
            </a:pPr>
            <a:endParaRPr lang="en-US" sz="3189" b="1"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4465"/>
              </a:lnSpc>
            </a:pPr>
            <a:r>
              <a:rPr lang="en-US" sz="3189" b="1">
                <a:ea typeface="The Seasons Bold"/>
                <a:cs typeface="The Seasons Bold"/>
                <a:sym typeface="The Seasons Bold"/>
              </a:rPr>
              <a:t>Step 04 - Graphite Coating on Nylon 6 Nozzle</a:t>
            </a:r>
          </a:p>
          <a:p>
            <a:pPr algn="l">
              <a:lnSpc>
                <a:spcPts val="4465"/>
              </a:lnSpc>
            </a:pPr>
            <a:endParaRPr lang="en-US" sz="3189" b="1"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4465"/>
              </a:lnSpc>
            </a:pPr>
            <a:r>
              <a:rPr lang="en-US" sz="3189" b="1">
                <a:ea typeface="The Seasons Bold"/>
                <a:cs typeface="The Seasons Bold"/>
                <a:sym typeface="The Seasons Bold"/>
              </a:rPr>
              <a:t>Step 05 - Electroplating with Copper Sulphate Powder</a:t>
            </a:r>
          </a:p>
          <a:p>
            <a:pPr algn="l">
              <a:lnSpc>
                <a:spcPts val="4465"/>
              </a:lnSpc>
            </a:pPr>
            <a:endParaRPr lang="en-US" sz="3189" b="1"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4465"/>
              </a:lnSpc>
            </a:pPr>
            <a:r>
              <a:rPr lang="en-US" sz="3189" b="1">
                <a:ea typeface="The Seasons Bold"/>
                <a:cs typeface="The Seasons Bold"/>
                <a:sym typeface="The Seasons Bold"/>
              </a:rPr>
              <a:t>Step 06 - Assembly of the Thruster System</a:t>
            </a:r>
          </a:p>
          <a:p>
            <a:pPr algn="l">
              <a:lnSpc>
                <a:spcPts val="4465"/>
              </a:lnSpc>
            </a:pPr>
            <a:endParaRPr lang="en-US" sz="3189" b="1"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4465"/>
              </a:lnSpc>
            </a:pPr>
            <a:r>
              <a:rPr lang="en-US" sz="3189" b="1">
                <a:ea typeface="The Seasons Bold"/>
                <a:cs typeface="The Seasons Bold"/>
                <a:sym typeface="The Seasons Bold"/>
              </a:rPr>
              <a:t>Step 07 - Testing, Calibration &amp; Performance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274619"/>
              </p:ext>
            </p:extLst>
          </p:nvPr>
        </p:nvGraphicFramePr>
        <p:xfrm>
          <a:off x="2672676" y="2857500"/>
          <a:ext cx="12942648" cy="57168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471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1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19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Canva Sans Bold"/>
                        </a:rPr>
                        <a:t>PARAMETERS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Canva Sans Bold"/>
                        </a:rPr>
                        <a:t>DIMENSIONS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33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NOZZLE INLET DIAMETER (DI)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48 mm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60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NOZZLE OUTER DIAMETER (DO)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30 mm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41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OVERALL NOZZLE LENGTH (L)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25 mm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60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WALL THICKNESS 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2 mm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-764133" y="486408"/>
            <a:ext cx="19321046" cy="10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0"/>
              </a:lnSpc>
            </a:pPr>
            <a:r>
              <a:rPr lang="en-US" sz="5500" b="1" u="sng" spc="-212" dirty="0">
                <a:ea typeface="Canva Sans Bold"/>
                <a:cs typeface="Canva Sans Bold"/>
                <a:sym typeface="Canva Sans Bold"/>
              </a:rPr>
              <a:t>NOZZLE DIMENSIONS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840579" y="2680524"/>
            <a:ext cx="13088882" cy="6272691"/>
          </a:xfrm>
          <a:custGeom>
            <a:avLst/>
            <a:gdLst/>
            <a:ahLst/>
            <a:cxnLst/>
            <a:rect l="l" t="t" r="r" b="b"/>
            <a:pathLst>
              <a:path w="13088882" h="6272691">
                <a:moveTo>
                  <a:pt x="0" y="0"/>
                </a:moveTo>
                <a:lnTo>
                  <a:pt x="13088882" y="0"/>
                </a:lnTo>
                <a:lnTo>
                  <a:pt x="13088882" y="6272690"/>
                </a:lnTo>
                <a:lnTo>
                  <a:pt x="0" y="6272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94" b="-877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691283" y="486408"/>
            <a:ext cx="19321046" cy="10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0"/>
              </a:lnSpc>
            </a:pPr>
            <a:r>
              <a:rPr lang="en-US" sz="5500" b="1" u="sng" spc="-212">
                <a:ea typeface="Canva Sans Bold"/>
                <a:cs typeface="Canva Sans Bold"/>
                <a:sym typeface="Canva Sans Bold"/>
              </a:rPr>
              <a:t>NOZZLE DESIGN PART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1033046" y="508941"/>
            <a:ext cx="19321046" cy="7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00" b="1" u="sng" spc="-137" dirty="0">
                <a:ea typeface="Canva Sans Bold"/>
                <a:cs typeface="Canva Sans Bold"/>
                <a:sym typeface="Canva Sans Bold"/>
              </a:rPr>
              <a:t>NOZZLE SIMULATION 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39238" y="4819967"/>
            <a:ext cx="9525" cy="514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83444" y="2372995"/>
            <a:ext cx="16930638" cy="6115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1" u="sng" dirty="0">
                <a:ea typeface="Canva Sans Bold"/>
                <a:cs typeface="Canva Sans Bold"/>
                <a:sym typeface="Canva Sans Bold"/>
              </a:rPr>
              <a:t>The analysis was divided into two key parts:</a:t>
            </a:r>
          </a:p>
          <a:p>
            <a:pPr>
              <a:lnSpc>
                <a:spcPts val="5740"/>
              </a:lnSpc>
            </a:pPr>
            <a:endParaRPr lang="en-US" sz="4100" b="1" u="sng" dirty="0"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740"/>
              </a:lnSpc>
            </a:pPr>
            <a:r>
              <a:rPr lang="en-US" sz="4100" b="1" dirty="0">
                <a:ea typeface="Canva Sans Bold"/>
                <a:cs typeface="Canva Sans Bold"/>
                <a:sym typeface="Canva Sans Bold"/>
              </a:rPr>
              <a:t>·     Mass Flow Inlet Simulation (to assess aerodynamic performance)</a:t>
            </a:r>
            <a:endParaRPr lang="en-US" sz="4100" b="1" dirty="0">
              <a:ea typeface="Canva Sans Bold"/>
              <a:cs typeface="Canva Sans Bold"/>
            </a:endParaRPr>
          </a:p>
          <a:p>
            <a:pPr algn="l">
              <a:lnSpc>
                <a:spcPts val="5740"/>
              </a:lnSpc>
            </a:pPr>
            <a:r>
              <a:rPr lang="en-US" sz="4100" b="1" dirty="0">
                <a:ea typeface="Canva Sans Bold"/>
                <a:cs typeface="Canva Sans Bold"/>
                <a:sym typeface="Canva Sans Bold"/>
              </a:rPr>
              <a:t>·     Thermal Analysis (to evaluate heat distribution and material stress)</a:t>
            </a:r>
            <a:endParaRPr lang="en-US" sz="4100" b="1" dirty="0">
              <a:ea typeface="Canva Sans Bold"/>
              <a:cs typeface="Canva Sans Bold"/>
            </a:endParaRPr>
          </a:p>
          <a:p>
            <a:pPr>
              <a:lnSpc>
                <a:spcPts val="5740"/>
              </a:lnSpc>
            </a:pPr>
            <a:endParaRPr lang="en-US" sz="4100" b="1" dirty="0"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740"/>
              </a:lnSpc>
            </a:pPr>
            <a:r>
              <a:rPr lang="en-US" sz="4100" b="1" dirty="0">
                <a:ea typeface="Canva Sans Bold"/>
                <a:cs typeface="Canva Sans Bold"/>
                <a:sym typeface="Canva Sans Bold"/>
              </a:rPr>
              <a:t>These simulations are crucial for ensuring both the thrust efficiency and material integrity of the nozzle under realistic working environments.</a:t>
            </a:r>
            <a:endParaRPr lang="en-US" sz="4100" b="1" dirty="0">
              <a:ea typeface="Canva Sans Bold"/>
              <a:cs typeface="Canva Sans Bold"/>
            </a:endParaRPr>
          </a:p>
          <a:p>
            <a:pPr algn="ctr">
              <a:lnSpc>
                <a:spcPts val="9099"/>
              </a:lnSpc>
            </a:pPr>
            <a:endParaRPr lang="en-US" sz="4100" b="1"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1033046" y="508941"/>
            <a:ext cx="19321046" cy="7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00" b="1" u="sng" spc="-137">
                <a:ea typeface="Canva Sans Bold"/>
                <a:cs typeface="Canva Sans Bold"/>
                <a:sym typeface="Canva Sans Bold"/>
              </a:rPr>
              <a:t>NOZZLE SIMULATION -  MASS FLOW INLET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72310-9784-6D54-3380-5046C00B40B4}"/>
              </a:ext>
            </a:extLst>
          </p:cNvPr>
          <p:cNvSpPr txBox="1"/>
          <p:nvPr/>
        </p:nvSpPr>
        <p:spPr>
          <a:xfrm>
            <a:off x="400651" y="1470467"/>
            <a:ext cx="1644287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ea typeface="+mn-lt"/>
                <a:cs typeface="+mn-lt"/>
              </a:rPr>
              <a:t>Objective:</a:t>
            </a:r>
            <a:endParaRPr lang="en-US" sz="400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+mn-lt"/>
                <a:cs typeface="+mn-lt"/>
              </a:rPr>
              <a:t>Evaluate aerodynamic behavior of ion thruster nozzle</a:t>
            </a:r>
            <a:endParaRPr lang="en-US" sz="400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+mn-lt"/>
                <a:cs typeface="+mn-lt"/>
              </a:rPr>
              <a:t>Verify ability to accelerate compressible flow to generate thrust</a:t>
            </a:r>
            <a:endParaRPr lang="en-US" sz="4000">
              <a:cs typeface="Times New Roman"/>
            </a:endParaRPr>
          </a:p>
          <a:p>
            <a:endParaRPr lang="en-US" sz="4000" b="1" dirty="0"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CA7C1-7B70-4741-BED6-01673B488771}"/>
              </a:ext>
            </a:extLst>
          </p:cNvPr>
          <p:cNvSpPr txBox="1"/>
          <p:nvPr/>
        </p:nvSpPr>
        <p:spPr>
          <a:xfrm>
            <a:off x="400585" y="3594145"/>
            <a:ext cx="15365184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cs typeface="Times New Roman"/>
            </a:endParaRPr>
          </a:p>
          <a:p>
            <a:r>
              <a:rPr lang="en-US" sz="4000" b="1" dirty="0">
                <a:ea typeface="+mn-lt"/>
                <a:cs typeface="+mn-lt"/>
              </a:rPr>
              <a:t>Simulation Setup: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Software:</a:t>
            </a:r>
            <a:r>
              <a:rPr lang="en-US" sz="4000" dirty="0">
                <a:ea typeface="+mn-lt"/>
                <a:cs typeface="+mn-lt"/>
              </a:rPr>
              <a:t> ANSYS Fluent 2024 (3D, steady)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Solver:</a:t>
            </a:r>
            <a:r>
              <a:rPr lang="en-US" sz="4000" dirty="0">
                <a:ea typeface="+mn-lt"/>
                <a:cs typeface="+mn-lt"/>
              </a:rPr>
              <a:t> Density-based, SST k-ω turbulence model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Heat Transfer:</a:t>
            </a:r>
            <a:r>
              <a:rPr lang="en-US" sz="4000" dirty="0">
                <a:ea typeface="+mn-lt"/>
                <a:cs typeface="+mn-lt"/>
              </a:rPr>
              <a:t> Disabled (aerodynamic-only)</a:t>
            </a:r>
            <a:endParaRPr lang="en-US" sz="40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89089-21FE-059F-5394-FDFB236050F2}"/>
              </a:ext>
            </a:extLst>
          </p:cNvPr>
          <p:cNvSpPr txBox="1"/>
          <p:nvPr/>
        </p:nvSpPr>
        <p:spPr>
          <a:xfrm>
            <a:off x="784121" y="6681359"/>
            <a:ext cx="15855042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Solver:</a:t>
            </a:r>
            <a:r>
              <a:rPr lang="en-US" sz="4000" dirty="0">
                <a:ea typeface="+mn-lt"/>
                <a:cs typeface="+mn-lt"/>
              </a:rPr>
              <a:t> Density-based, SST k-ω turbulence model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Heat Transfer:</a:t>
            </a:r>
            <a:r>
              <a:rPr lang="en-US" sz="4000" dirty="0">
                <a:ea typeface="+mn-lt"/>
                <a:cs typeface="+mn-lt"/>
              </a:rPr>
              <a:t> Disabled (aerodynamic-only)</a:t>
            </a:r>
            <a:endParaRPr lang="en-US" sz="4000" dirty="0">
              <a:cs typeface="Times New Roman"/>
            </a:endParaRPr>
          </a:p>
          <a:p>
            <a:endParaRPr lang="en-US" sz="4000" dirty="0"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05B0B-AE72-004F-3305-9F264A1F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2884C0A-6580-A5B5-8205-3FB735A9CFFC}"/>
              </a:ext>
            </a:extLst>
          </p:cNvPr>
          <p:cNvSpPr txBox="1"/>
          <p:nvPr/>
        </p:nvSpPr>
        <p:spPr>
          <a:xfrm>
            <a:off x="-1033046" y="508941"/>
            <a:ext cx="19321046" cy="7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00" b="1" u="sng" spc="-137">
                <a:ea typeface="Canva Sans Bold"/>
                <a:cs typeface="Canva Sans Bold"/>
                <a:sym typeface="Canva Sans Bold"/>
              </a:rPr>
              <a:t>NOZZLE SIMULATION -  MASS FLOW INLET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3C163-FD36-B83F-3154-F81838A06E09}"/>
              </a:ext>
            </a:extLst>
          </p:cNvPr>
          <p:cNvSpPr txBox="1"/>
          <p:nvPr/>
        </p:nvSpPr>
        <p:spPr>
          <a:xfrm>
            <a:off x="400651" y="1470467"/>
            <a:ext cx="17406256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ea typeface="+mn-lt"/>
                <a:cs typeface="+mn-lt"/>
              </a:rPr>
              <a:t>Mesh Details:</a:t>
            </a:r>
            <a:endParaRPr lang="en-US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Cells:</a:t>
            </a:r>
            <a:r>
              <a:rPr lang="en-US" sz="4000" dirty="0">
                <a:ea typeface="+mn-lt"/>
                <a:cs typeface="+mn-lt"/>
              </a:rPr>
              <a:t> 125,274 | </a:t>
            </a:r>
            <a:r>
              <a:rPr lang="en-US" sz="4000" b="1" dirty="0">
                <a:ea typeface="+mn-lt"/>
                <a:cs typeface="+mn-lt"/>
              </a:rPr>
              <a:t>Nodes:</a:t>
            </a:r>
            <a:r>
              <a:rPr lang="en-US" sz="4000" dirty="0">
                <a:ea typeface="+mn-lt"/>
                <a:cs typeface="+mn-lt"/>
              </a:rPr>
              <a:t> 442,624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Min Orthogonal Quality:</a:t>
            </a:r>
            <a:r>
              <a:rPr lang="en-US" sz="4000" dirty="0">
                <a:ea typeface="+mn-lt"/>
                <a:cs typeface="+mn-lt"/>
              </a:rPr>
              <a:t> 0.157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Max Aspect Ratio:</a:t>
            </a:r>
            <a:r>
              <a:rPr lang="en-US" sz="4000" dirty="0">
                <a:ea typeface="+mn-lt"/>
                <a:cs typeface="+mn-lt"/>
              </a:rPr>
              <a:t> 52.63</a:t>
            </a:r>
            <a:endParaRPr lang="en-US" dirty="0"/>
          </a:p>
          <a:p>
            <a:endParaRPr lang="en-US" sz="4000" b="1" dirty="0"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81D6C-581B-9A98-2DFD-BC5CFC361A1F}"/>
              </a:ext>
            </a:extLst>
          </p:cNvPr>
          <p:cNvSpPr txBox="1"/>
          <p:nvPr/>
        </p:nvSpPr>
        <p:spPr>
          <a:xfrm>
            <a:off x="400585" y="4443231"/>
            <a:ext cx="15365184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ea typeface="+mn-lt"/>
                <a:cs typeface="+mn-lt"/>
              </a:rPr>
              <a:t>Material Properties: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Fluid:</a:t>
            </a:r>
            <a:r>
              <a:rPr lang="en-US" sz="4000" dirty="0">
                <a:ea typeface="+mn-lt"/>
                <a:cs typeface="+mn-lt"/>
              </a:rPr>
              <a:t> Ideal Air (Sutherland law)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Wall:</a:t>
            </a:r>
            <a:r>
              <a:rPr lang="en-US" sz="4000" dirty="0">
                <a:ea typeface="+mn-lt"/>
                <a:cs typeface="+mn-lt"/>
              </a:rPr>
              <a:t> Aluminum (CF-PEEK unavailable in Fluent)</a:t>
            </a:r>
            <a:endParaRPr lang="en-US" sz="4000" dirty="0"/>
          </a:p>
          <a:p>
            <a:endParaRPr lang="en-US" dirty="0"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40ED2-B50C-04EF-9C00-102F38101468}"/>
              </a:ext>
            </a:extLst>
          </p:cNvPr>
          <p:cNvSpPr txBox="1"/>
          <p:nvPr/>
        </p:nvSpPr>
        <p:spPr>
          <a:xfrm>
            <a:off x="408651" y="6885586"/>
            <a:ext cx="1703070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Boundary Conditions:</a:t>
            </a:r>
            <a:endParaRPr lang="en-US" sz="400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>
                <a:ea typeface="+mn-lt"/>
                <a:cs typeface="+mn-lt"/>
              </a:rPr>
              <a:t>Inlet:</a:t>
            </a:r>
            <a:r>
              <a:rPr lang="en-US" sz="4000" dirty="0">
                <a:ea typeface="+mn-lt"/>
                <a:cs typeface="+mn-lt"/>
              </a:rPr>
              <a:t> </a:t>
            </a:r>
            <a:r>
              <a:rPr lang="en-US" sz="4000">
                <a:ea typeface="+mn-lt"/>
                <a:cs typeface="+mn-lt"/>
              </a:rPr>
              <a:t>0.126 kg/s, 298 K, 5% turbulence</a:t>
            </a:r>
            <a:endParaRPr lang="en-US" sz="400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>
                <a:ea typeface="+mn-lt"/>
                <a:cs typeface="+mn-lt"/>
              </a:rPr>
              <a:t>Outlet:</a:t>
            </a:r>
            <a:r>
              <a:rPr lang="en-US" sz="4000" dirty="0">
                <a:ea typeface="+mn-lt"/>
                <a:cs typeface="+mn-lt"/>
              </a:rPr>
              <a:t> </a:t>
            </a:r>
            <a:r>
              <a:rPr lang="en-US" sz="4000">
                <a:ea typeface="+mn-lt"/>
                <a:cs typeface="+mn-lt"/>
              </a:rPr>
              <a:t>Gauge Pressure = 0 Pa</a:t>
            </a:r>
            <a:endParaRPr lang="en-US" sz="400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>
                <a:ea typeface="+mn-lt"/>
                <a:cs typeface="+mn-lt"/>
              </a:rPr>
              <a:t>Walls:</a:t>
            </a:r>
            <a:r>
              <a:rPr lang="en-US" sz="4000" dirty="0">
                <a:ea typeface="+mn-lt"/>
                <a:cs typeface="+mn-lt"/>
              </a:rPr>
              <a:t> </a:t>
            </a:r>
            <a:r>
              <a:rPr lang="en-US" sz="4000">
                <a:ea typeface="+mn-lt"/>
                <a:cs typeface="+mn-lt"/>
              </a:rPr>
              <a:t>No-slip, adiabatic</a:t>
            </a:r>
            <a:endParaRPr lang="en-US" sz="4000">
              <a:cs typeface="Times New Roman"/>
            </a:endParaRPr>
          </a:p>
          <a:p>
            <a:pPr algn="l"/>
            <a:endParaRPr lang="en-US" sz="40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6088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4F39B-4065-B864-C2AD-B6E65F45F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791B885-B1E2-3A98-7019-89F3B1DD8921}"/>
              </a:ext>
            </a:extLst>
          </p:cNvPr>
          <p:cNvSpPr txBox="1"/>
          <p:nvPr/>
        </p:nvSpPr>
        <p:spPr>
          <a:xfrm>
            <a:off x="-1033046" y="508941"/>
            <a:ext cx="19321046" cy="7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00" b="1" u="sng" spc="-137">
                <a:ea typeface="Canva Sans Bold"/>
                <a:cs typeface="Canva Sans Bold"/>
                <a:sym typeface="Canva Sans Bold"/>
              </a:rPr>
              <a:t>NOZZLE SIMULATION -  MASS FLOW INLET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990C5-6D01-DD4E-D6BD-6377D5422E99}"/>
              </a:ext>
            </a:extLst>
          </p:cNvPr>
          <p:cNvSpPr txBox="1"/>
          <p:nvPr/>
        </p:nvSpPr>
        <p:spPr>
          <a:xfrm>
            <a:off x="400585" y="2140902"/>
            <a:ext cx="15365184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ea typeface="+mn-lt"/>
                <a:cs typeface="+mn-lt"/>
              </a:rPr>
              <a:t>Solver Settings: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+mn-lt"/>
                <a:cs typeface="+mn-lt"/>
              </a:rPr>
              <a:t>Second Order Upwind, Courant No: 5, Steady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+mn-lt"/>
                <a:cs typeface="+mn-lt"/>
              </a:rPr>
              <a:t>Converged in 400 iterations</a:t>
            </a:r>
            <a:endParaRPr lang="en-US" sz="4000" dirty="0"/>
          </a:p>
          <a:p>
            <a:endParaRPr lang="en-US" dirty="0"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18542-DAD9-B110-D8BB-5105F3485589}"/>
              </a:ext>
            </a:extLst>
          </p:cNvPr>
          <p:cNvSpPr txBox="1"/>
          <p:nvPr/>
        </p:nvSpPr>
        <p:spPr>
          <a:xfrm>
            <a:off x="408651" y="4892692"/>
            <a:ext cx="1727562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Key Results:</a:t>
            </a:r>
            <a:endParaRPr lang="en-US" sz="400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>
                <a:ea typeface="+mn-lt"/>
                <a:cs typeface="+mn-lt"/>
              </a:rPr>
              <a:t>Outlet Velocity:</a:t>
            </a:r>
            <a:r>
              <a:rPr lang="en-US" sz="4000" dirty="0">
                <a:ea typeface="+mn-lt"/>
                <a:cs typeface="+mn-lt"/>
              </a:rPr>
              <a:t> </a:t>
            </a:r>
            <a:r>
              <a:rPr lang="en-US" sz="4000">
                <a:ea typeface="+mn-lt"/>
                <a:cs typeface="+mn-lt"/>
              </a:rPr>
              <a:t>146.65 m/s</a:t>
            </a:r>
            <a:endParaRPr lang="en-US" sz="400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b="1" dirty="0">
                <a:ea typeface="+mn-lt"/>
                <a:cs typeface="+mn-lt"/>
              </a:rPr>
              <a:t>Mass Flow Residual:</a:t>
            </a:r>
            <a:r>
              <a:rPr lang="en-US" sz="4000" dirty="0">
                <a:ea typeface="+mn-lt"/>
                <a:cs typeface="+mn-lt"/>
              </a:rPr>
              <a:t> ~0.00013 kg/s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+mn-lt"/>
                <a:cs typeface="+mn-lt"/>
              </a:rPr>
              <a:t>Smooth acceleration, proper pressure drop</a:t>
            </a:r>
            <a:endParaRPr lang="en-US" sz="4000" dirty="0"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ea typeface="+mn-lt"/>
                <a:cs typeface="+mn-lt"/>
              </a:rPr>
              <a:t>Mach number transition to near-sonic at outlet</a:t>
            </a:r>
            <a:endParaRPr lang="en-US" sz="4000" dirty="0">
              <a:cs typeface="Times New Roman"/>
            </a:endParaRPr>
          </a:p>
          <a:p>
            <a:pPr algn="l"/>
            <a:endParaRPr lang="en-US" sz="40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0317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7EB36-FEEE-D94B-763C-20A88E9B6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9514BBA-BDF8-03EB-5E38-AB69F5182BCE}"/>
              </a:ext>
            </a:extLst>
          </p:cNvPr>
          <p:cNvSpPr/>
          <p:nvPr/>
        </p:nvSpPr>
        <p:spPr>
          <a:xfrm>
            <a:off x="1973329" y="2122137"/>
            <a:ext cx="8418141" cy="3546142"/>
          </a:xfrm>
          <a:custGeom>
            <a:avLst/>
            <a:gdLst/>
            <a:ahLst/>
            <a:cxnLst/>
            <a:rect l="l" t="t" r="r" b="b"/>
            <a:pathLst>
              <a:path w="8418141" h="3546142">
                <a:moveTo>
                  <a:pt x="0" y="0"/>
                </a:moveTo>
                <a:lnTo>
                  <a:pt x="8418141" y="0"/>
                </a:lnTo>
                <a:lnTo>
                  <a:pt x="8418141" y="3546141"/>
                </a:lnTo>
                <a:lnTo>
                  <a:pt x="0" y="354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7C16279-0EBE-9D0B-6C7E-56FB5A5B463A}"/>
              </a:ext>
            </a:extLst>
          </p:cNvPr>
          <p:cNvSpPr/>
          <p:nvPr/>
        </p:nvSpPr>
        <p:spPr>
          <a:xfrm>
            <a:off x="1973329" y="6190160"/>
            <a:ext cx="8418141" cy="3546142"/>
          </a:xfrm>
          <a:custGeom>
            <a:avLst/>
            <a:gdLst/>
            <a:ahLst/>
            <a:cxnLst/>
            <a:rect l="l" t="t" r="r" b="b"/>
            <a:pathLst>
              <a:path w="8418141" h="3546142">
                <a:moveTo>
                  <a:pt x="0" y="0"/>
                </a:moveTo>
                <a:lnTo>
                  <a:pt x="8418141" y="0"/>
                </a:lnTo>
                <a:lnTo>
                  <a:pt x="8418141" y="3546142"/>
                </a:lnTo>
                <a:lnTo>
                  <a:pt x="0" y="3546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D893B1-7A44-DFB7-7112-1B4E50745D68}"/>
              </a:ext>
            </a:extLst>
          </p:cNvPr>
          <p:cNvSpPr txBox="1"/>
          <p:nvPr/>
        </p:nvSpPr>
        <p:spPr>
          <a:xfrm>
            <a:off x="-1033046" y="508941"/>
            <a:ext cx="19321046" cy="755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0"/>
              </a:lnSpc>
            </a:pPr>
            <a:r>
              <a:rPr lang="en-US" sz="5500" b="1" u="sng" spc="-137">
                <a:ea typeface="Canva Sans Bold"/>
                <a:cs typeface="Canva Sans Bold"/>
                <a:sym typeface="Canva Sans Bold"/>
              </a:rPr>
              <a:t>NOZZLE SIMULATION -  MASS FLOW INLET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575B7F4-ADC5-AF8A-7CEE-FB024C3FAFD5}"/>
              </a:ext>
            </a:extLst>
          </p:cNvPr>
          <p:cNvSpPr txBox="1"/>
          <p:nvPr/>
        </p:nvSpPr>
        <p:spPr>
          <a:xfrm>
            <a:off x="10639694" y="3458229"/>
            <a:ext cx="6793321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ea typeface="Canva Sans Bold"/>
                <a:cs typeface="Canva Sans Bold"/>
                <a:sym typeface="Canva Sans Bold"/>
              </a:rPr>
              <a:t>Pressure Dynamic</a:t>
            </a:r>
          </a:p>
          <a:p>
            <a:pPr algn="ctr">
              <a:lnSpc>
                <a:spcPts val="6300"/>
              </a:lnSpc>
            </a:pPr>
            <a:endParaRPr lang="en-US" sz="4400" b="1"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7FF42C-250D-5EBC-9A16-3974C0932CC2}"/>
              </a:ext>
            </a:extLst>
          </p:cNvPr>
          <p:cNvSpPr txBox="1"/>
          <p:nvPr/>
        </p:nvSpPr>
        <p:spPr>
          <a:xfrm>
            <a:off x="11752928" y="6793249"/>
            <a:ext cx="4284464" cy="1661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>
                <a:ea typeface="Canva Sans Bold"/>
                <a:cs typeface="Canva Sans Bold"/>
                <a:sym typeface="Canva Sans Bold"/>
              </a:rPr>
              <a:t>Pressure Static</a:t>
            </a:r>
          </a:p>
          <a:p>
            <a:pPr algn="ctr">
              <a:lnSpc>
                <a:spcPts val="7279"/>
              </a:lnSpc>
            </a:pPr>
            <a:endParaRPr lang="en-US" sz="4600" b="1">
              <a:ea typeface="Canva Sans Bold"/>
              <a:cs typeface="Canva Sans Bold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287636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723977" y="2222887"/>
            <a:ext cx="8525635" cy="3591424"/>
          </a:xfrm>
          <a:custGeom>
            <a:avLst/>
            <a:gdLst/>
            <a:ahLst/>
            <a:cxnLst/>
            <a:rect l="l" t="t" r="r" b="b"/>
            <a:pathLst>
              <a:path w="8525635" h="3591424">
                <a:moveTo>
                  <a:pt x="0" y="0"/>
                </a:moveTo>
                <a:lnTo>
                  <a:pt x="8525635" y="0"/>
                </a:lnTo>
                <a:lnTo>
                  <a:pt x="8525635" y="3591423"/>
                </a:lnTo>
                <a:lnTo>
                  <a:pt x="0" y="3591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3977" y="6139587"/>
            <a:ext cx="8525635" cy="3591424"/>
          </a:xfrm>
          <a:custGeom>
            <a:avLst/>
            <a:gdLst/>
            <a:ahLst/>
            <a:cxnLst/>
            <a:rect l="l" t="t" r="r" b="b"/>
            <a:pathLst>
              <a:path w="8525635" h="3591424">
                <a:moveTo>
                  <a:pt x="0" y="0"/>
                </a:moveTo>
                <a:lnTo>
                  <a:pt x="8525635" y="0"/>
                </a:lnTo>
                <a:lnTo>
                  <a:pt x="8525635" y="3591424"/>
                </a:lnTo>
                <a:lnTo>
                  <a:pt x="0" y="3591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263592" y="486408"/>
            <a:ext cx="19321046" cy="118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0"/>
              </a:lnSpc>
            </a:pPr>
            <a:r>
              <a:rPr lang="en-US" sz="5500" b="1" u="sng" spc="-212" dirty="0">
                <a:ea typeface="Canva Sans Bold"/>
                <a:cs typeface="Canva Sans Bold"/>
                <a:sym typeface="Canva Sans Bold"/>
              </a:rPr>
              <a:t>NOZZLE</a:t>
            </a:r>
            <a:r>
              <a:rPr lang="en-US" sz="8500" b="1" u="sng" spc="-212" dirty="0"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500" b="1" u="sng" spc="-212" dirty="0">
                <a:ea typeface="Canva Sans Bold"/>
                <a:cs typeface="Canva Sans Bold"/>
                <a:sym typeface="Canva Sans Bold"/>
              </a:rPr>
              <a:t>SIMULATION</a:t>
            </a:r>
            <a:r>
              <a:rPr lang="en-US" sz="8500" b="1" u="sng" spc="-212" dirty="0"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39694" y="3458229"/>
            <a:ext cx="6793321" cy="74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1">
                <a:ea typeface="Canva Sans Bold"/>
                <a:cs typeface="Canva Sans Bold"/>
                <a:sym typeface="Canva Sans Bold"/>
              </a:rPr>
              <a:t>Velocity Magnitude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83700" y="6793249"/>
            <a:ext cx="6222921" cy="150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ea typeface="Canva Sans Bold"/>
                <a:cs typeface="Canva Sans Bold"/>
                <a:sym typeface="Canva Sans Bold"/>
              </a:rPr>
              <a:t>Velocity Mach Number</a:t>
            </a:r>
          </a:p>
          <a:p>
            <a:pPr algn="ctr">
              <a:lnSpc>
                <a:spcPts val="6020"/>
              </a:lnSpc>
            </a:pPr>
            <a:endParaRPr lang="en-US" sz="4400" b="1"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17997" y="509768"/>
            <a:ext cx="10587240" cy="4170492"/>
          </a:xfrm>
          <a:custGeom>
            <a:avLst/>
            <a:gdLst/>
            <a:ahLst/>
            <a:cxnLst/>
            <a:rect l="l" t="t" r="r" b="b"/>
            <a:pathLst>
              <a:path w="10587240" h="4170492">
                <a:moveTo>
                  <a:pt x="0" y="0"/>
                </a:moveTo>
                <a:lnTo>
                  <a:pt x="10587240" y="0"/>
                </a:lnTo>
                <a:lnTo>
                  <a:pt x="10587240" y="4170492"/>
                </a:lnTo>
                <a:lnTo>
                  <a:pt x="0" y="417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" r="-2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796915" y="5363448"/>
            <a:ext cx="10076998" cy="3967818"/>
          </a:xfrm>
          <a:custGeom>
            <a:avLst/>
            <a:gdLst/>
            <a:ahLst/>
            <a:cxnLst/>
            <a:rect l="l" t="t" r="r" b="b"/>
            <a:pathLst>
              <a:path w="10076998" h="3967818">
                <a:moveTo>
                  <a:pt x="0" y="0"/>
                </a:moveTo>
                <a:lnTo>
                  <a:pt x="10076998" y="0"/>
                </a:lnTo>
                <a:lnTo>
                  <a:pt x="10076998" y="3967818"/>
                </a:lnTo>
                <a:lnTo>
                  <a:pt x="0" y="3967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105110" y="2014624"/>
            <a:ext cx="575945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ea typeface="Canva Sans Bold"/>
                <a:cs typeface="Canva Sans Bold"/>
                <a:sym typeface="Canva Sans Bold"/>
              </a:rPr>
              <a:t>Mass Flow Rate vs Iteration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524000" y="6858461"/>
            <a:ext cx="1130125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ea typeface="Canva Sans Bold"/>
                <a:cs typeface="Canva Sans Bold"/>
                <a:sym typeface="Canva Sans Bold"/>
              </a:rPr>
              <a:t>Outlet Velocity vs Iteration</a:t>
            </a:r>
          </a:p>
          <a:p>
            <a:pPr algn="ctr">
              <a:lnSpc>
                <a:spcPts val="4759"/>
              </a:lnSpc>
            </a:pPr>
            <a:endParaRPr lang="en-US" sz="3399" b="1" dirty="0"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842065" y="1039586"/>
            <a:ext cx="14603870" cy="5750274"/>
          </a:xfrm>
          <a:custGeom>
            <a:avLst/>
            <a:gdLst/>
            <a:ahLst/>
            <a:cxnLst/>
            <a:rect l="l" t="t" r="r" b="b"/>
            <a:pathLst>
              <a:path w="14603870" h="5750274">
                <a:moveTo>
                  <a:pt x="0" y="0"/>
                </a:moveTo>
                <a:lnTo>
                  <a:pt x="14603870" y="0"/>
                </a:lnTo>
                <a:lnTo>
                  <a:pt x="14603870" y="5750273"/>
                </a:lnTo>
                <a:lnTo>
                  <a:pt x="0" y="5750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52825" y="7353300"/>
            <a:ext cx="1118235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Scaled Residuals (Continuity, Velocities, Energy, k, ω)</a:t>
            </a:r>
          </a:p>
          <a:p>
            <a:pPr algn="ctr">
              <a:lnSpc>
                <a:spcPts val="4759"/>
              </a:lnSpc>
            </a:pPr>
            <a:endParaRPr lang="en-US" sz="3399" b="1" dirty="0"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52BC57-20F2-925D-465F-E0330B192A2D}"/>
              </a:ext>
            </a:extLst>
          </p:cNvPr>
          <p:cNvSpPr txBox="1"/>
          <p:nvPr/>
        </p:nvSpPr>
        <p:spPr>
          <a:xfrm>
            <a:off x="2057401" y="213505"/>
            <a:ext cx="1548872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/>
              <a:t>Thermal Analysis of Ion Thruster Nozzle – ANSYS Fluent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A72BC-95CC-0B92-0204-C6D0F8AB37B3}"/>
              </a:ext>
            </a:extLst>
          </p:cNvPr>
          <p:cNvSpPr txBox="1"/>
          <p:nvPr/>
        </p:nvSpPr>
        <p:spPr>
          <a:xfrm>
            <a:off x="288986" y="1334938"/>
            <a:ext cx="1799038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+mn-lt"/>
                <a:cs typeface="+mn-lt"/>
              </a:rPr>
              <a:t>Objective:</a:t>
            </a:r>
            <a:endParaRPr lang="en-US" sz="3200" b="1">
              <a:cs typeface="Times New Roman"/>
            </a:endParaRPr>
          </a:p>
          <a:p>
            <a:r>
              <a:rPr lang="en-US" sz="3200">
                <a:ea typeface="+mn-lt"/>
                <a:cs typeface="+mn-lt"/>
              </a:rPr>
              <a:t>To analyze the wall temperature and heat transfer behavior of the nozzle using CF-PEEK material under steady-state flow of xenon gas.</a:t>
            </a:r>
            <a:endParaRPr lang="en-US"/>
          </a:p>
        </p:txBody>
      </p:sp>
      <p:pic>
        <p:nvPicPr>
          <p:cNvPr id="10" name="Picture 9" descr="A blue and green grid&#10;&#10;AI-generated content may be incorrect.">
            <a:extLst>
              <a:ext uri="{FF2B5EF4-FFF2-40B4-BE49-F238E27FC236}">
                <a16:creationId xmlns:a16="http://schemas.microsoft.com/office/drawing/2014/main" id="{95D5376C-9077-DE54-BAB8-7F41069F2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652" y="2918964"/>
            <a:ext cx="8309035" cy="5613639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3A7A0C10-3C49-11FF-BC1E-C0290EECF454}"/>
              </a:ext>
            </a:extLst>
          </p:cNvPr>
          <p:cNvSpPr txBox="1"/>
          <p:nvPr/>
        </p:nvSpPr>
        <p:spPr>
          <a:xfrm>
            <a:off x="9451108" y="8871433"/>
            <a:ext cx="8513552" cy="67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020"/>
              </a:lnSpc>
            </a:pPr>
            <a:r>
              <a:rPr lang="en-US" sz="2800" b="1">
                <a:ea typeface="+mn-lt"/>
                <a:cs typeface="+mn-lt"/>
              </a:rPr>
              <a:t>Structured Mesh of Nozzle Domain</a:t>
            </a:r>
            <a:endParaRPr lang="en-US" sz="2800" b="1"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68374D-CE31-996E-2B16-979C0E526854}"/>
              </a:ext>
            </a:extLst>
          </p:cNvPr>
          <p:cNvSpPr txBox="1"/>
          <p:nvPr/>
        </p:nvSpPr>
        <p:spPr>
          <a:xfrm>
            <a:off x="288985" y="3383711"/>
            <a:ext cx="8975785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Simulation Setup: </a:t>
            </a:r>
            <a:endParaRPr lang="en-US" sz="3200" b="1">
              <a:cs typeface="Times New Roman"/>
            </a:endParaRPr>
          </a:p>
          <a:p>
            <a:endParaRPr lang="en-US" sz="3200" b="1"/>
          </a:p>
          <a:p>
            <a:pPr marL="457200" indent="-457200">
              <a:buFont typeface="Arial"/>
              <a:buChar char="•"/>
            </a:pPr>
            <a:r>
              <a:rPr lang="en-US" sz="3200"/>
              <a:t>Solver: Pressure-based, Steady, 2D Axisymmetric</a:t>
            </a:r>
            <a:endParaRPr lang="en-US" sz="3200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Models: Energy Equation ON, SST k-ω Turbulence </a:t>
            </a:r>
            <a:endParaRPr lang="en-US" sz="3200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Materials: </a:t>
            </a:r>
            <a:endParaRPr lang="en-US" sz="3200">
              <a:cs typeface="Times New Roman"/>
            </a:endParaRPr>
          </a:p>
          <a:p>
            <a:r>
              <a:rPr lang="en-US" sz="3200"/>
              <a:t>           Fluid: Xenon (Ideal Gas)</a:t>
            </a:r>
            <a:endParaRPr lang="en-US" sz="3200">
              <a:cs typeface="Times New Roman"/>
            </a:endParaRPr>
          </a:p>
          <a:p>
            <a:r>
              <a:rPr lang="en-US" sz="3200"/>
              <a:t>           Solid: CF-PEEK</a:t>
            </a:r>
            <a:endParaRPr lang="en-US" sz="3200"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5EE3DA-75BF-CA02-6B33-53186963F15B}"/>
              </a:ext>
            </a:extLst>
          </p:cNvPr>
          <p:cNvSpPr txBox="1"/>
          <p:nvPr/>
        </p:nvSpPr>
        <p:spPr>
          <a:xfrm>
            <a:off x="288984" y="7438126"/>
            <a:ext cx="852289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Meshing: </a:t>
            </a:r>
            <a:endParaRPr lang="en-US" sz="3200" b="1">
              <a:cs typeface="Times New Roman"/>
            </a:endParaRPr>
          </a:p>
          <a:p>
            <a:endParaRPr lang="en-US" sz="3200" b="1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Type: Structured Quad Mesh</a:t>
            </a:r>
            <a:endParaRPr lang="en-US" sz="3200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 Refinement: Finer mesh near the wall for accurate thermal capture </a:t>
            </a:r>
            <a:endParaRPr lang="en-US" sz="3200"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CC574973-8B04-902C-8CCF-A24C9F62B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604" y="1250111"/>
            <a:ext cx="10028207" cy="3883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2D97BD-EF2E-2DA3-6044-F022D2907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861" y="5614628"/>
            <a:ext cx="9947697" cy="39532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A9CC5D-59E8-E577-3662-FB1FF992D4FA}"/>
              </a:ext>
            </a:extLst>
          </p:cNvPr>
          <p:cNvSpPr txBox="1"/>
          <p:nvPr/>
        </p:nvSpPr>
        <p:spPr>
          <a:xfrm>
            <a:off x="892834" y="299767"/>
            <a:ext cx="129223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/>
              <a:t>Boundary Conditions and Solver Convergence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E7909-A47C-2AFC-4B36-D4D62C10223F}"/>
              </a:ext>
            </a:extLst>
          </p:cNvPr>
          <p:cNvSpPr txBox="1"/>
          <p:nvPr/>
        </p:nvSpPr>
        <p:spPr>
          <a:xfrm>
            <a:off x="353683" y="1572164"/>
            <a:ext cx="7250501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Boundary Conditions:</a:t>
            </a:r>
            <a:r>
              <a:rPr lang="en-US" sz="3200"/>
              <a:t> </a:t>
            </a:r>
            <a:endParaRPr lang="en-US" sz="3200">
              <a:cs typeface="Times New Roman"/>
            </a:endParaRPr>
          </a:p>
          <a:p>
            <a:endParaRPr lang="en-US" sz="3200"/>
          </a:p>
          <a:p>
            <a:pPr marL="457200" indent="-457200">
              <a:buFont typeface="Arial"/>
              <a:buChar char="•"/>
            </a:pPr>
            <a:r>
              <a:rPr lang="en-US" sz="3200"/>
              <a:t>Inlet: </a:t>
            </a:r>
            <a:endParaRPr lang="en-US" sz="3200">
              <a:cs typeface="Times New Roman"/>
            </a:endParaRPr>
          </a:p>
          <a:p>
            <a:r>
              <a:rPr lang="en-US" sz="3200"/>
              <a:t>       Mass Flow Rate: 0.126 kg/s </a:t>
            </a:r>
            <a:endParaRPr lang="en-US" sz="3200">
              <a:cs typeface="Times New Roman"/>
            </a:endParaRPr>
          </a:p>
          <a:p>
            <a:r>
              <a:rPr lang="en-US" sz="3200"/>
              <a:t>       Temperature: 573 K </a:t>
            </a:r>
            <a:endParaRPr lang="en-US" sz="3200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Outlet:</a:t>
            </a:r>
            <a:endParaRPr lang="en-US" sz="3200">
              <a:cs typeface="Times New Roman"/>
            </a:endParaRPr>
          </a:p>
          <a:p>
            <a:r>
              <a:rPr lang="en-US" sz="3200"/>
              <a:t>       Pressure: 0 Pa (ambient) </a:t>
            </a:r>
            <a:endParaRPr lang="en-US" sz="3200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Wall: </a:t>
            </a:r>
            <a:endParaRPr lang="en-US" sz="3200">
              <a:cs typeface="Times New Roman"/>
            </a:endParaRPr>
          </a:p>
          <a:p>
            <a:r>
              <a:rPr lang="en-US" sz="3200"/>
              <a:t>      Coupled fluid–solid interface for conjugate heat transfer</a:t>
            </a:r>
            <a:endParaRPr lang="en-US" sz="3200"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A03EF9-1ED5-E177-F108-56AB583FF73D}"/>
              </a:ext>
            </a:extLst>
          </p:cNvPr>
          <p:cNvSpPr txBox="1"/>
          <p:nvPr/>
        </p:nvSpPr>
        <p:spPr>
          <a:xfrm>
            <a:off x="332116" y="7200899"/>
            <a:ext cx="701327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Solver Info:</a:t>
            </a:r>
            <a:endParaRPr lang="en-US" sz="3200" b="1">
              <a:cs typeface="Times New Roman"/>
            </a:endParaRPr>
          </a:p>
          <a:p>
            <a:endParaRPr lang="en-US" sz="3200" b="1"/>
          </a:p>
          <a:p>
            <a:pPr marL="457200" indent="-457200">
              <a:buFont typeface="Arial"/>
              <a:buChar char="•"/>
            </a:pPr>
            <a:r>
              <a:rPr lang="en-US" sz="3200"/>
              <a:t>Initialization: Hybrid </a:t>
            </a:r>
            <a:endParaRPr lang="en-US" sz="3200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Convergence: Achieved in 77 iterations </a:t>
            </a:r>
            <a:endParaRPr lang="en-US" sz="3200"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80DC10-8ED4-6C4A-94F3-B6CF35C9BA09}"/>
              </a:ext>
            </a:extLst>
          </p:cNvPr>
          <p:cNvSpPr txBox="1"/>
          <p:nvPr/>
        </p:nvSpPr>
        <p:spPr>
          <a:xfrm>
            <a:off x="11364486" y="5139783"/>
            <a:ext cx="53015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cs typeface="Times New Roman"/>
              </a:rPr>
              <a:t>Residuals Vs Iterations</a:t>
            </a:r>
            <a:endParaRPr lang="en-US" sz="28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34901-BC39-A471-691E-C2235D34DCD5}"/>
              </a:ext>
            </a:extLst>
          </p:cNvPr>
          <p:cNvSpPr txBox="1"/>
          <p:nvPr/>
        </p:nvSpPr>
        <p:spPr>
          <a:xfrm>
            <a:off x="10104347" y="9584826"/>
            <a:ext cx="656524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cs typeface="Times New Roman"/>
              </a:rPr>
              <a:t>Wall Static Temperature Vs Axial Position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545110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263592" y="457833"/>
            <a:ext cx="19321046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9"/>
              </a:lnSpc>
            </a:pPr>
            <a:r>
              <a:rPr lang="en-US" sz="5450" b="1" u="sng" spc="-137">
                <a:ea typeface="Canva Sans Bold"/>
                <a:cs typeface="Times New Roman"/>
                <a:sym typeface="Canva Sans Bold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17A1CF-A115-43AE-B0F7-C27AD12C833E}"/>
              </a:ext>
            </a:extLst>
          </p:cNvPr>
          <p:cNvSpPr txBox="1"/>
          <p:nvPr/>
        </p:nvSpPr>
        <p:spPr>
          <a:xfrm>
            <a:off x="483079" y="1507466"/>
            <a:ext cx="7595557" cy="302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Key Outputs:</a:t>
            </a:r>
            <a:endParaRPr lang="en-US" b="1"/>
          </a:p>
          <a:p>
            <a:pPr marL="457200" indent="-457200">
              <a:buFont typeface="Arial"/>
              <a:buChar char="•"/>
            </a:pPr>
            <a:endParaRPr lang="en-US" sz="3200" b="1">
              <a:cs typeface="Times New Roman" panose="02020603050405020304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Max Wall Temperature: ~533 K </a:t>
            </a:r>
            <a:endParaRPr lang="en-US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Outlet Velocity: 146.65 m/s</a:t>
            </a:r>
            <a:endParaRPr lang="en-US">
              <a:cs typeface="Times New Roman" panose="02020603050405020304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Material Check: CF-PEEK performs within safe thermal limits </a:t>
            </a:r>
            <a:endParaRPr lang="en-US">
              <a:cs typeface="Times New Roman"/>
            </a:endParaRP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A0DE5AD-503C-4039-320F-2704E3F0C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717" y="1657080"/>
            <a:ext cx="7940435" cy="7878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B9BA4F-7D18-8059-1112-DBAD7120BBD2}"/>
              </a:ext>
            </a:extLst>
          </p:cNvPr>
          <p:cNvSpPr txBox="1"/>
          <p:nvPr/>
        </p:nvSpPr>
        <p:spPr>
          <a:xfrm>
            <a:off x="9152627" y="925183"/>
            <a:ext cx="55467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Contour Visualizations: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F34F5-B11B-6F05-6265-6FF6AC78F210}"/>
              </a:ext>
            </a:extLst>
          </p:cNvPr>
          <p:cNvSpPr txBox="1"/>
          <p:nvPr/>
        </p:nvSpPr>
        <p:spPr>
          <a:xfrm>
            <a:off x="8354684" y="9530032"/>
            <a:ext cx="947180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1. Static Temperature Contour: 2. Velocity Magnitude Contour</a:t>
            </a:r>
            <a:endParaRPr lang="en-US">
              <a:cs typeface="Times New Roman" panose="020206030504050203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B136F-6360-4CED-92DD-83D6FCA61097}"/>
              </a:ext>
            </a:extLst>
          </p:cNvPr>
          <p:cNvSpPr txBox="1"/>
          <p:nvPr/>
        </p:nvSpPr>
        <p:spPr>
          <a:xfrm>
            <a:off x="483079" y="5324654"/>
            <a:ext cx="785435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Conclusion:</a:t>
            </a:r>
            <a:endParaRPr lang="en-US" sz="3200" b="1"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 Simulation validates nozzle’s thermal performance.</a:t>
            </a:r>
            <a:endParaRPr lang="en-US" sz="3200">
              <a:cs typeface="Times New Roman" panose="02020603050405020304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 CF-PEEK is suitable for expected operating temperatures .</a:t>
            </a:r>
            <a:endParaRPr lang="en-US" sz="3200">
              <a:cs typeface="Times New Roman" panose="02020603050405020304"/>
            </a:endParaRPr>
          </a:p>
          <a:p>
            <a:pPr marL="457200" indent="-457200">
              <a:buFont typeface="Arial"/>
              <a:buChar char="•"/>
            </a:pPr>
            <a:r>
              <a:rPr lang="en-US" sz="3200"/>
              <a:t>Nozzle design is thermally efficient for ion propulsion .</a:t>
            </a:r>
            <a:endParaRPr lang="en-US" sz="3200"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8B6532-383A-4321-7911-DA9283A7C0A4}"/>
              </a:ext>
            </a:extLst>
          </p:cNvPr>
          <p:cNvSpPr txBox="1"/>
          <p:nvPr/>
        </p:nvSpPr>
        <p:spPr>
          <a:xfrm>
            <a:off x="3522106" y="133743"/>
            <a:ext cx="1119577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cs typeface="Times New Roman"/>
              </a:rPr>
              <a:t>Contour Visualization and Output Analysis</a:t>
            </a:r>
            <a:endParaRPr lang="en-US" sz="4400"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801123"/>
              </p:ext>
            </p:extLst>
          </p:nvPr>
        </p:nvGraphicFramePr>
        <p:xfrm>
          <a:off x="1719131" y="2569673"/>
          <a:ext cx="5993227" cy="65503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6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Item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 Bold"/>
                        </a:rPr>
                        <a:t>Cost (Rs.)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Transformer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345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Arimo"/>
                        </a:rPr>
                        <a:t>Li ion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600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Nylon 6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500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25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3D Printer (Rental/Making)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1500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Copper Strip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220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Soldering Items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80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184557" y="367313"/>
            <a:ext cx="9286445" cy="75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402029" y="37065"/>
            <a:ext cx="11813408" cy="1047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7"/>
              </a:lnSpc>
            </a:pPr>
            <a:r>
              <a:rPr lang="en-US" sz="5500" b="1" u="sng" dirty="0">
                <a:ea typeface="Canva Sans Bold"/>
                <a:cs typeface="Canva Sans Bold"/>
                <a:sym typeface="Canva Sans Bold"/>
              </a:rPr>
              <a:t>MATERIAL COST STRUCTURE</a:t>
            </a:r>
            <a:r>
              <a:rPr lang="en-US" sz="5500" b="1" dirty="0"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298" y="1520774"/>
            <a:ext cx="14840835" cy="43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2564" b="1">
                <a:ea typeface="Canva Sans Bold"/>
                <a:cs typeface="Canva Sans Bold"/>
                <a:sym typeface="Canva Sans Bold"/>
              </a:rPr>
              <a:t> Material &amp; 3D Printing Cost for Small-Scale 3D-Printed Ion Thruster Nozzle (Nylon 6) – INR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67323"/>
              </p:ext>
            </p:extLst>
          </p:nvPr>
        </p:nvGraphicFramePr>
        <p:xfrm>
          <a:off x="9018933" y="3131648"/>
          <a:ext cx="6585836" cy="5435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5124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Item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 Bold"/>
                        </a:rPr>
                        <a:t>Cost (Rs.)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Wires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Canva Sans"/>
                        </a:rPr>
                        <a:t>50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Copper Sulphate Powder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300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Arimo"/>
                        </a:rPr>
                        <a:t>Electroplating Process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100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Arimo"/>
                        </a:rPr>
                        <a:t>Carbon Powder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Canva Sans"/>
                        </a:rPr>
                        <a:t>80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5124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 Bold"/>
                        </a:rPr>
                        <a:t>Total Cost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sym typeface="Arimo"/>
                        </a:rPr>
                        <a:t>3,775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217230"/>
              </p:ext>
            </p:extLst>
          </p:nvPr>
        </p:nvGraphicFramePr>
        <p:xfrm>
          <a:off x="2209800" y="3314700"/>
          <a:ext cx="5993227" cy="65503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6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Item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 Bold"/>
                        </a:rPr>
                        <a:t>Cost (Rs.)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"/>
                        </a:rPr>
                        <a:t>Transformer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Canva Sans"/>
                        </a:rPr>
                        <a:t>345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Arimo"/>
                        </a:rPr>
                        <a:t>Li ion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600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"/>
                        </a:rPr>
                        <a:t>PEEK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2000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25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"/>
                        </a:rPr>
                        <a:t>3D Printer (Rental/Making)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1500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"/>
                        </a:rPr>
                        <a:t>Copper Strip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220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76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"/>
                        </a:rPr>
                        <a:t>Soldering Items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Canva Sans"/>
                        </a:rPr>
                        <a:t>80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675226" y="1112340"/>
            <a:ext cx="9286445" cy="75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892698" y="782092"/>
            <a:ext cx="11813408" cy="1059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7"/>
              </a:lnSpc>
            </a:pPr>
            <a:r>
              <a:rPr lang="en-US" sz="6441" u="sng">
                <a:ea typeface="Canva Sans Bold"/>
                <a:cs typeface="Canva Sans Bold"/>
                <a:sym typeface="Canva Sans Bold"/>
              </a:rPr>
              <a:t>MATERIAL COST STRUCTURE</a:t>
            </a:r>
            <a:r>
              <a:rPr lang="en-US" sz="6441"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3967" y="2265801"/>
            <a:ext cx="14840835" cy="43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2564">
                <a:ea typeface="Canva Sans Bold"/>
                <a:cs typeface="Canva Sans Bold"/>
                <a:sym typeface="Canva Sans Bold"/>
              </a:rPr>
              <a:t> Material &amp; 3D Printing Cost for Large-Scale 3D-Printed Ion Thruster Nozzle (PEEK) – INR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436001"/>
              </p:ext>
            </p:extLst>
          </p:nvPr>
        </p:nvGraphicFramePr>
        <p:xfrm>
          <a:off x="9509602" y="3876675"/>
          <a:ext cx="6585836" cy="5435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5124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 Bold"/>
                        </a:rPr>
                        <a:t>Item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 Bold"/>
                        </a:rPr>
                        <a:t>Cost (Rs.)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Arimo"/>
                        </a:rPr>
                        <a:t>Wires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50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"/>
                        </a:rPr>
                        <a:t>Copper Sulphate Powder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300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Arimo"/>
                        </a:rPr>
                        <a:t>Electroplating Process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100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59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"/>
                        </a:rPr>
                        <a:t>Carbon Powder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Canva Sans"/>
                        </a:rPr>
                        <a:t>80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5124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sym typeface="Arimo Bold"/>
                        </a:rPr>
                        <a:t>Total Cost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sym typeface="Arimo"/>
                        </a:rPr>
                        <a:t>5,275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190500" marR="190500" marT="190500" marB="1905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86200" y="2095500"/>
            <a:ext cx="8658993" cy="787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4"/>
              </a:lnSpc>
            </a:pPr>
            <a:endParaRPr dirty="0"/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Transformer</a:t>
            </a:r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Lithium Ion Battery</a:t>
            </a:r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Nylon 6 Filament</a:t>
            </a:r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3D Printer</a:t>
            </a:r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Copper Strip</a:t>
            </a:r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Soldering Items</a:t>
            </a:r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Wires</a:t>
            </a:r>
          </a:p>
          <a:p>
            <a:pPr marL="959867" lvl="1" indent="-479934" algn="ctr">
              <a:lnSpc>
                <a:spcPts val="6224"/>
              </a:lnSpc>
              <a:buAutoNum type="arabicPeriod"/>
            </a:pPr>
            <a:r>
              <a:rPr lang="en-US" sz="4445" dirty="0">
                <a:ea typeface="Times New Roman"/>
                <a:cs typeface="Times New Roman"/>
                <a:sym typeface="Times New Roman"/>
              </a:rPr>
              <a:t>3D Printed Nozzle</a:t>
            </a:r>
          </a:p>
          <a:p>
            <a:pPr algn="ctr">
              <a:lnSpc>
                <a:spcPts val="6224"/>
              </a:lnSpc>
            </a:pPr>
            <a:endParaRPr lang="en-US" sz="4445" dirty="0"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87965"/>
            <a:ext cx="15003214" cy="233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700" b="1" u="sng" dirty="0">
                <a:ea typeface="Canva Sans Bold"/>
                <a:cs typeface="Canva Sans Bold"/>
                <a:sym typeface="Canva Sans Bold"/>
              </a:rPr>
              <a:t>EQUIPMENTS / MATERIALS NEEDED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202184" y="6637711"/>
            <a:ext cx="14293049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880F04-F610-C445-F78F-D11D5D51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80" y="1174314"/>
            <a:ext cx="7938371" cy="79383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FE67-5BC5-F2E6-5B70-098E5AC55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83A50E6-E6F1-D117-64D5-F1ADEEF73BD4}"/>
              </a:ext>
            </a:extLst>
          </p:cNvPr>
          <p:cNvSpPr txBox="1"/>
          <p:nvPr/>
        </p:nvSpPr>
        <p:spPr>
          <a:xfrm>
            <a:off x="1202184" y="6637711"/>
            <a:ext cx="14293049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411FBE-8FD5-C969-F891-8128D7472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129" y="1722329"/>
            <a:ext cx="7652620" cy="68423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A7A1DA-C354-49DD-9512-247479AA97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4" t="5963" r="24740"/>
          <a:stretch/>
        </p:blipFill>
        <p:spPr>
          <a:xfrm>
            <a:off x="1143001" y="1737986"/>
            <a:ext cx="6842359" cy="68266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B9535-E8CD-0EC8-06ED-9F4B1A3A3E73}"/>
              </a:ext>
            </a:extLst>
          </p:cNvPr>
          <p:cNvSpPr txBox="1"/>
          <p:nvPr/>
        </p:nvSpPr>
        <p:spPr>
          <a:xfrm>
            <a:off x="4557246" y="571972"/>
            <a:ext cx="108381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cs typeface="Times New Roman"/>
              </a:rPr>
              <a:t>EXPERIMENTAL TESTING SETUP</a:t>
            </a:r>
          </a:p>
        </p:txBody>
      </p:sp>
    </p:spTree>
    <p:extLst>
      <p:ext uri="{BB962C8B-B14F-4D97-AF65-F5344CB8AC3E}">
        <p14:creationId xmlns:p14="http://schemas.microsoft.com/office/powerpoint/2010/main" val="1028813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4E39-63BE-7321-0FDA-1BEE4392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8217C18-0FC0-7099-6FF4-6F5E292B2B4D}"/>
              </a:ext>
            </a:extLst>
          </p:cNvPr>
          <p:cNvSpPr txBox="1"/>
          <p:nvPr/>
        </p:nvSpPr>
        <p:spPr>
          <a:xfrm>
            <a:off x="948801" y="1965696"/>
            <a:ext cx="16390398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ea typeface="Canva Sans"/>
                <a:cs typeface="Canva Sans"/>
                <a:sym typeface="Canva Sans"/>
              </a:rPr>
              <a:t>Typical Ion Thrusters: Large, bulky, expensive for small satellites.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ea typeface="Canva Sans"/>
                <a:cs typeface="Canva Sans"/>
                <a:sym typeface="Canva Sans"/>
              </a:rPr>
              <a:t>3D Printing Approach: Creates a compact, affordable alternative that can be integrated into small-scale satellites</a:t>
            </a:r>
          </a:p>
          <a:p>
            <a:pPr algn="ctr">
              <a:lnSpc>
                <a:spcPts val="4759"/>
              </a:lnSpc>
            </a:pPr>
            <a:endParaRPr lang="en-US" sz="3399"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328B9C-2FE6-A545-152A-E6750E25BBAB}"/>
              </a:ext>
            </a:extLst>
          </p:cNvPr>
          <p:cNvSpPr txBox="1"/>
          <p:nvPr/>
        </p:nvSpPr>
        <p:spPr>
          <a:xfrm>
            <a:off x="1202184" y="6637711"/>
            <a:ext cx="14293049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ECA191E-0DF7-EEA5-7AAE-437F29A63737}"/>
              </a:ext>
            </a:extLst>
          </p:cNvPr>
          <p:cNvSpPr txBox="1"/>
          <p:nvPr/>
        </p:nvSpPr>
        <p:spPr>
          <a:xfrm>
            <a:off x="-762001" y="680110"/>
            <a:ext cx="1429304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ea typeface="Canva Sans Bold"/>
                <a:cs typeface="Canva Sans Bold"/>
                <a:sym typeface="Canva Sans Bold"/>
              </a:rPr>
              <a:t>How this differs from Others?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FF5DA48-E40E-17CE-710E-CDE32AA0EB8B}"/>
              </a:ext>
            </a:extLst>
          </p:cNvPr>
          <p:cNvSpPr txBox="1"/>
          <p:nvPr/>
        </p:nvSpPr>
        <p:spPr>
          <a:xfrm>
            <a:off x="948801" y="6076369"/>
            <a:ext cx="16390398" cy="242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ea typeface="Canva Sans"/>
                <a:cs typeface="Canva Sans"/>
                <a:sym typeface="Canva Sans"/>
              </a:rPr>
              <a:t>Compact and Lightweight: Ideal for small spacecraft.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ea typeface="Canva Sans"/>
                <a:cs typeface="Canva Sans"/>
                <a:sym typeface="Canva Sans"/>
              </a:rPr>
              <a:t>Cost-Effective: Using 3D printing reduces production and material costs.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ea typeface="Canva Sans"/>
                <a:cs typeface="Canva Sans"/>
                <a:sym typeface="Canva Sans"/>
              </a:rPr>
              <a:t>Custom Design: Optimized for better ionization and propulsion efficiency.</a:t>
            </a:r>
          </a:p>
          <a:p>
            <a:pPr algn="l">
              <a:lnSpc>
                <a:spcPts val="4759"/>
              </a:lnSpc>
            </a:pPr>
            <a:endParaRPr lang="en-US" sz="3399"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84C3E6C-44F8-0050-8202-CF2132C131C7}"/>
              </a:ext>
            </a:extLst>
          </p:cNvPr>
          <p:cNvSpPr txBox="1"/>
          <p:nvPr/>
        </p:nvSpPr>
        <p:spPr>
          <a:xfrm>
            <a:off x="-1810676" y="4641662"/>
            <a:ext cx="1639039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ea typeface="Canva Sans Bold"/>
                <a:cs typeface="Canva Sans Bold"/>
                <a:sym typeface="Canva Sans Bold"/>
              </a:rPr>
              <a:t>What are the Special Features?</a:t>
            </a:r>
          </a:p>
        </p:txBody>
      </p:sp>
    </p:spTree>
    <p:extLst>
      <p:ext uri="{BB962C8B-B14F-4D97-AF65-F5344CB8AC3E}">
        <p14:creationId xmlns:p14="http://schemas.microsoft.com/office/powerpoint/2010/main" val="2859603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97476" y="857250"/>
            <a:ext cx="14293049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82218" y="3610292"/>
            <a:ext cx="16872382" cy="321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7545" lvl="1" indent="-393772" algn="l">
              <a:lnSpc>
                <a:spcPts val="5106"/>
              </a:lnSpc>
              <a:buFont typeface="Arial"/>
              <a:buChar char="•"/>
            </a:pPr>
            <a:r>
              <a:rPr lang="en-US" sz="3647" b="1" u="sng" dirty="0">
                <a:ea typeface="Canva Sans Bold"/>
                <a:cs typeface="Canva Sans Bold"/>
                <a:sym typeface="Canva Sans Bold"/>
              </a:rPr>
              <a:t>Miniaturization:</a:t>
            </a:r>
            <a:r>
              <a:rPr lang="en-US" sz="3647" dirty="0">
                <a:ea typeface="Canva Sans"/>
                <a:cs typeface="Canva Sans"/>
                <a:sym typeface="Canva Sans"/>
              </a:rPr>
              <a:t> Potential to scale ion thrusters for smaller, more efficient satellites.</a:t>
            </a:r>
          </a:p>
          <a:p>
            <a:pPr algn="l">
              <a:lnSpc>
                <a:spcPts val="5106"/>
              </a:lnSpc>
            </a:pPr>
            <a:endParaRPr lang="en-US" sz="3647" dirty="0">
              <a:ea typeface="Canva Sans"/>
              <a:cs typeface="Canva Sans"/>
              <a:sym typeface="Canva Sans"/>
            </a:endParaRPr>
          </a:p>
          <a:p>
            <a:pPr marL="787545" lvl="1" indent="-393772" algn="l">
              <a:lnSpc>
                <a:spcPts val="5106"/>
              </a:lnSpc>
              <a:buFont typeface="Arial"/>
              <a:buChar char="•"/>
            </a:pPr>
            <a:r>
              <a:rPr lang="en-US" sz="3647" b="1" u="sng" dirty="0">
                <a:ea typeface="Canva Sans Bold"/>
                <a:cs typeface="Canva Sans Bold"/>
                <a:sym typeface="Canva Sans Bold"/>
              </a:rPr>
              <a:t>Sustainability:</a:t>
            </a:r>
            <a:r>
              <a:rPr lang="en-US" sz="3647" dirty="0">
                <a:ea typeface="Canva Sans"/>
                <a:cs typeface="Canva Sans"/>
                <a:sym typeface="Canva Sans"/>
              </a:rPr>
              <a:t> Reduced fuel needs and longer operational lifespan compared to traditional propulsion systems.</a:t>
            </a:r>
          </a:p>
          <a:p>
            <a:pPr algn="l">
              <a:lnSpc>
                <a:spcPts val="5106"/>
              </a:lnSpc>
            </a:pPr>
            <a:endParaRPr lang="en-US" sz="3647" dirty="0"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49558" y="857250"/>
            <a:ext cx="16523563" cy="142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5500" b="1" u="sng" dirty="0">
                <a:ea typeface="Canva Sans Bold"/>
                <a:cs typeface="Canva Sans Bold"/>
                <a:sym typeface="Canva Sans Bold"/>
              </a:rPr>
              <a:t>Future Prospects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97476" y="857250"/>
            <a:ext cx="14293049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28701" y="2082834"/>
            <a:ext cx="16040100" cy="549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10"/>
              </a:lnSpc>
            </a:pPr>
            <a:r>
              <a:rPr lang="en-US" sz="3000" b="1" u="sng" dirty="0">
                <a:latin typeface="Canva Sans Bold"/>
                <a:ea typeface="Canva Sans Bold"/>
                <a:cs typeface="Canva Sans Bold"/>
                <a:sym typeface="Canva Sans Bold"/>
              </a:rPr>
              <a:t>Summary:</a:t>
            </a:r>
          </a:p>
          <a:p>
            <a:pPr algn="l">
              <a:lnSpc>
                <a:spcPts val="5410"/>
              </a:lnSpc>
            </a:pP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This project focuses on modifying a 3D printer nozzle to create a compact, cost-effective ion thruster for small satellites using Nylon 6 and 3D printing.</a:t>
            </a:r>
          </a:p>
          <a:p>
            <a:pPr algn="l">
              <a:lnSpc>
                <a:spcPts val="5410"/>
              </a:lnSpc>
            </a:pPr>
            <a:endParaRPr lang="en-US" sz="3000" dirty="0"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410"/>
              </a:lnSpc>
            </a:pPr>
            <a:r>
              <a:rPr lang="en-US" sz="3000" b="1" u="sng" dirty="0">
                <a:latin typeface="Canva Sans Bold"/>
                <a:ea typeface="Canva Sans Bold"/>
                <a:cs typeface="Canva Sans Bold"/>
                <a:sym typeface="Canva Sans Bold"/>
              </a:rPr>
              <a:t>Future Work:</a:t>
            </a:r>
          </a:p>
          <a:p>
            <a:pPr algn="l">
              <a:lnSpc>
                <a:spcPts val="5410"/>
              </a:lnSpc>
            </a:pP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Future phases will optimize the design and conduct performance testing for effective ion propulsion</a:t>
            </a:r>
            <a:r>
              <a:rPr lang="en-US" sz="3864" dirty="0"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5410"/>
              </a:lnSpc>
            </a:pPr>
            <a:endParaRPr lang="en-US" sz="3864" dirty="0"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39238" y="4652327"/>
            <a:ext cx="9525" cy="75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74094" y="159703"/>
            <a:ext cx="7965705" cy="1422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sz="5500" b="1" u="sng" dirty="0"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430771" y="2094955"/>
            <a:ext cx="14293049" cy="129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52400" y="499896"/>
            <a:ext cx="13849350" cy="2455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7"/>
              </a:lnSpc>
            </a:pPr>
            <a:r>
              <a:rPr lang="en-US" sz="10000" b="1" dirty="0">
                <a:ea typeface="Canva Sans Bold"/>
                <a:cs typeface="Canva Sans Bold"/>
                <a:sym typeface="Canva Sans Bold"/>
              </a:rPr>
              <a:t>THANK YOU !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29600" y="4983766"/>
            <a:ext cx="5974338" cy="8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u="sng" dirty="0">
                <a:ea typeface="Canva Sans Bold"/>
                <a:cs typeface="Canva Sans Bold"/>
                <a:sym typeface="Canva Sans Bold"/>
              </a:rPr>
              <a:t>TEAM MEMBERS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79320" y="6285620"/>
            <a:ext cx="8361162" cy="3026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50" err="1">
                <a:ea typeface="Canva Sans"/>
                <a:cs typeface="Canva Sans"/>
                <a:sym typeface="Canva Sans"/>
              </a:rPr>
              <a:t>Arupya</a:t>
            </a:r>
            <a:r>
              <a:rPr lang="en-US" sz="3350">
                <a:ea typeface="Canva Sans"/>
                <a:cs typeface="Canva Sans"/>
                <a:sym typeface="Canva Sans"/>
              </a:rPr>
              <a:t> T- (21AO08)</a:t>
            </a:r>
            <a:endParaRPr lang="en-US" sz="3350">
              <a:ea typeface="Canva Sans"/>
              <a:cs typeface="Canva Sans"/>
            </a:endParaRPr>
          </a:p>
          <a:p>
            <a:pPr algn="ctr">
              <a:lnSpc>
                <a:spcPts val="4759"/>
              </a:lnSpc>
            </a:pPr>
            <a:r>
              <a:rPr lang="en-US" sz="3300">
                <a:cs typeface="Times New Roman"/>
              </a:rPr>
              <a:t>Ashwini Sai K S- (21AO09)</a:t>
            </a:r>
            <a:endParaRPr lang="en-US"/>
          </a:p>
          <a:p>
            <a:pPr algn="ctr">
              <a:lnSpc>
                <a:spcPts val="4759"/>
              </a:lnSpc>
            </a:pPr>
            <a:r>
              <a:rPr lang="en-US" sz="3399" dirty="0">
                <a:ea typeface="Canva Sans"/>
                <a:cs typeface="Canva Sans"/>
                <a:sym typeface="Canva Sans"/>
              </a:rPr>
              <a:t>Athulya A- (21AO14</a:t>
            </a:r>
            <a:r>
              <a:rPr lang="en-US" sz="3399">
                <a:ea typeface="Canva Sans"/>
                <a:cs typeface="Canva Sans"/>
                <a:sym typeface="Canva Sans"/>
              </a:rPr>
              <a:t>)</a:t>
            </a:r>
          </a:p>
          <a:p>
            <a:pPr algn="ctr">
              <a:lnSpc>
                <a:spcPts val="4759"/>
              </a:lnSpc>
            </a:pPr>
            <a:r>
              <a:rPr lang="en-US" sz="3300">
                <a:cs typeface="Times New Roman"/>
              </a:rPr>
              <a:t>Swanand Kasar - (21AO35)</a:t>
            </a:r>
            <a:endParaRPr lang="en-US"/>
          </a:p>
          <a:p>
            <a:pPr algn="ctr">
              <a:lnSpc>
                <a:spcPts val="4759"/>
              </a:lnSpc>
            </a:pPr>
            <a:endParaRPr lang="en-US" sz="3399">
              <a:ea typeface="Canva Sans"/>
              <a:cs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5800" y="4983765"/>
            <a:ext cx="5537976" cy="85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u="sng" dirty="0">
                <a:ea typeface="Canva Sans Bold"/>
                <a:cs typeface="Canva Sans Bold"/>
                <a:sym typeface="Canva Sans Bold"/>
              </a:rPr>
              <a:t>TEAM MENTOR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1288" y="6279804"/>
            <a:ext cx="49022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ea typeface="Canva Sans Bold"/>
                <a:cs typeface="Canva Sans Bold"/>
                <a:sym typeface="Canva Sans Bold"/>
              </a:rPr>
              <a:t>Mr. Ezhilarasu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1808</Words>
  <Application>Microsoft Office PowerPoint</Application>
  <PresentationFormat>Custom</PresentationFormat>
  <Paragraphs>314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 THRUSTER</dc:title>
  <dc:creator>Ashwini Sai</dc:creator>
  <cp:lastModifiedBy>Swanand kasar</cp:lastModifiedBy>
  <cp:revision>78</cp:revision>
  <dcterms:created xsi:type="dcterms:W3CDTF">2006-08-16T00:00:00Z</dcterms:created>
  <dcterms:modified xsi:type="dcterms:W3CDTF">2025-04-30T05:43:33Z</dcterms:modified>
  <dc:identifier>DAGbyWVAxr0</dc:identifier>
</cp:coreProperties>
</file>